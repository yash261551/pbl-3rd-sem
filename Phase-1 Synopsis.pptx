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0" algn="ctr">
              <a:buSzTx/>
              <a:buFontTx/>
              <a:buNone/>
              <a:defRPr>
                <a:solidFill>
                  <a:srgbClr val="888888"/>
                </a:solidFill>
              </a:defRPr>
            </a:lvl2pPr>
            <a:lvl3pPr marL="0" indent="0" algn="ctr">
              <a:buSzTx/>
              <a:buFontTx/>
              <a:buNone/>
              <a:defRPr>
                <a:solidFill>
                  <a:srgbClr val="888888"/>
                </a:solidFill>
              </a:defRPr>
            </a:lvl3pPr>
            <a:lvl4pPr marL="0" indent="0" algn="ctr">
              <a:buSzTx/>
              <a:buFontTx/>
              <a:buNone/>
              <a:defRPr>
                <a:solidFill>
                  <a:srgbClr val="888888"/>
                </a:solidFill>
              </a:defRPr>
            </a:lvl4pPr>
            <a:lvl5pPr marL="0" indent="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9"/>
          </a:xfrm>
          <a:prstGeom prst="rect">
            <a:avLst/>
          </a:prstGeom>
        </p:spPr>
        <p:txBody>
          <a:bodyPr anchor="b"/>
          <a:lstStyle>
            <a:lvl1pPr marL="0" indent="0">
              <a:spcBef>
                <a:spcPts val="400"/>
              </a:spcBef>
              <a:buSzTx/>
              <a:buFontTx/>
              <a:buNone/>
              <a:defRPr sz="2000">
                <a:solidFill>
                  <a:srgbClr val="888888"/>
                </a:solidFill>
              </a:defRPr>
            </a:lvl1pPr>
            <a:lvl2pPr marL="0" indent="0">
              <a:spcBef>
                <a:spcPts val="400"/>
              </a:spcBef>
              <a:buSzTx/>
              <a:buFontTx/>
              <a:buNone/>
              <a:defRPr sz="2000">
                <a:solidFill>
                  <a:srgbClr val="888888"/>
                </a:solidFill>
              </a:defRPr>
            </a:lvl2pPr>
            <a:lvl3pPr marL="0" indent="0">
              <a:spcBef>
                <a:spcPts val="400"/>
              </a:spcBef>
              <a:buSzTx/>
              <a:buFontTx/>
              <a:buNone/>
              <a:defRPr sz="2000">
                <a:solidFill>
                  <a:srgbClr val="888888"/>
                </a:solidFill>
              </a:defRPr>
            </a:lvl3pPr>
            <a:lvl4pPr marL="0" indent="0">
              <a:spcBef>
                <a:spcPts val="400"/>
              </a:spcBef>
              <a:buSzTx/>
              <a:buFontTx/>
              <a:buNone/>
              <a:defRPr sz="2000">
                <a:solidFill>
                  <a:srgbClr val="888888"/>
                </a:solidFill>
              </a:defRPr>
            </a:lvl4pPr>
            <a:lvl5pPr marL="0" indent="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8" indent="-320038">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0">
              <a:spcBef>
                <a:spcPts val="500"/>
              </a:spcBef>
              <a:buSzTx/>
              <a:buFontTx/>
              <a:buNone/>
              <a:defRPr b="1" sz="2400"/>
            </a:lvl2pPr>
            <a:lvl3pPr marL="0" indent="0">
              <a:spcBef>
                <a:spcPts val="500"/>
              </a:spcBef>
              <a:buSzTx/>
              <a:buFontTx/>
              <a:buNone/>
              <a:defRPr b="1" sz="2400"/>
            </a:lvl3pPr>
            <a:lvl4pPr marL="0" indent="0">
              <a:spcBef>
                <a:spcPts val="500"/>
              </a:spcBef>
              <a:buSzTx/>
              <a:buFontTx/>
              <a:buNone/>
              <a:defRPr b="1" sz="2400"/>
            </a:lvl4pPr>
            <a:lvl5pPr marL="0" indent="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1"/>
            <a:ext cx="4041775" cy="639765"/>
          </a:xfrm>
          <a:prstGeom prst="rect">
            <a:avLst/>
          </a:prstGeom>
        </p:spPr>
        <p:txBody>
          <a:bodyPr anchor="b"/>
          <a:lstStyle/>
          <a:p>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5" cy="1162050"/>
          </a:xfrm>
          <a:prstGeom prst="rect">
            <a:avLst/>
          </a:prstGeom>
        </p:spPr>
        <p:txBody>
          <a:bodyPr anchor="b"/>
          <a:lstStyle>
            <a:lvl1pPr algn="l">
              <a:defRPr b="1" sz="2000"/>
            </a:lvl1pPr>
          </a:lstStyle>
          <a:p>
            <a:pPr/>
            <a:r>
              <a:t>Title Text</a:t>
            </a:r>
          </a:p>
        </p:txBody>
      </p:sp>
      <p:sp>
        <p:nvSpPr>
          <p:cNvPr id="73"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8" y="1435100"/>
            <a:ext cx="3008316" cy="4691063"/>
          </a:xfrm>
          <a:prstGeom prst="rect">
            <a:avLst/>
          </a:prstGeom>
        </p:spPr>
        <p:txBody>
          <a:bodyPr/>
          <a:lstStyle/>
          <a:p>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2"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2" cy="4114800"/>
          </a:xfrm>
          <a:prstGeom prst="rect">
            <a:avLst/>
          </a:prstGeom>
        </p:spPr>
        <p:txBody>
          <a:bodyPr lIns="91439" tIns="45719" rIns="91439" bIns="45719">
            <a:noAutofit/>
          </a:bodyPr>
          <a:lstStyle/>
          <a:p>
            <a:pPr/>
          </a:p>
        </p:txBody>
      </p:sp>
      <p:sp>
        <p:nvSpPr>
          <p:cNvPr id="84" name="Body Level One…"/>
          <p:cNvSpPr txBox="1"/>
          <p:nvPr>
            <p:ph type="body" sz="quarter" idx="1"/>
          </p:nvPr>
        </p:nvSpPr>
        <p:spPr>
          <a:xfrm>
            <a:off x="1792288" y="5367337"/>
            <a:ext cx="5486402" cy="804864"/>
          </a:xfrm>
          <a:prstGeom prst="rect">
            <a:avLst/>
          </a:prstGeom>
        </p:spPr>
        <p:txBody>
          <a:bodyPr/>
          <a:lstStyle>
            <a:lvl1pPr marL="0" indent="0">
              <a:spcBef>
                <a:spcPts val="300"/>
              </a:spcBef>
              <a:buSzTx/>
              <a:buFontTx/>
              <a:buNone/>
              <a:defRPr sz="1400"/>
            </a:lvl1pPr>
            <a:lvl2pPr marL="0" indent="0">
              <a:spcBef>
                <a:spcPts val="300"/>
              </a:spcBef>
              <a:buSzTx/>
              <a:buFontTx/>
              <a:buNone/>
              <a:defRPr sz="1400"/>
            </a:lvl2pPr>
            <a:lvl3pPr marL="0" indent="0">
              <a:spcBef>
                <a:spcPts val="300"/>
              </a:spcBef>
              <a:buSzTx/>
              <a:buFontTx/>
              <a:buNone/>
              <a:defRPr sz="1400"/>
            </a:lvl3pPr>
            <a:lvl4pPr marL="0" indent="0">
              <a:spcBef>
                <a:spcPts val="300"/>
              </a:spcBef>
              <a:buSzTx/>
              <a:buFontTx/>
              <a:buNone/>
              <a:defRPr sz="1400"/>
            </a:lvl4pPr>
            <a:lvl5pPr marL="0" indent="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8" y="6414761"/>
            <a:ext cx="258623" cy="248303"/>
          </a:xfrm>
          <a:prstGeom prst="rect">
            <a:avLst/>
          </a:prstGeom>
          <a:ln w="12700">
            <a:miter lim="400000"/>
          </a:ln>
        </p:spPr>
        <p:txBody>
          <a:bodyPr wrap="none" lIns="45718" tIns="45718" rIns="45718" bIns="45718"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1"/>
          <p:cNvSpPr/>
          <p:nvPr/>
        </p:nvSpPr>
        <p:spPr>
          <a:xfrm>
            <a:off x="-1" y="-1"/>
            <a:ext cx="12191697" cy="82298"/>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5" name="TextBox 2"/>
          <p:cNvSpPr txBox="1"/>
          <p:nvPr/>
        </p:nvSpPr>
        <p:spPr>
          <a:xfrm>
            <a:off x="777238" y="1143000"/>
            <a:ext cx="10607044" cy="45465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2900">
                <a:solidFill>
                  <a:srgbClr val="143769"/>
                </a:solidFill>
              </a:defRPr>
            </a:lvl1pPr>
          </a:lstStyle>
          <a:p>
            <a:pPr/>
            <a:r>
              <a:t>PROJECT-BASED LEARNING</a:t>
            </a:r>
          </a:p>
        </p:txBody>
      </p:sp>
      <p:sp>
        <p:nvSpPr>
          <p:cNvPr id="96" name="TextBox 3"/>
          <p:cNvSpPr txBox="1"/>
          <p:nvPr/>
        </p:nvSpPr>
        <p:spPr>
          <a:xfrm>
            <a:off x="777238" y="1783079"/>
            <a:ext cx="10607044" cy="33028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900"/>
            </a:lvl1pPr>
          </a:lstStyle>
          <a:p>
            <a:pPr/>
            <a:r>
              <a:t>PHASE-I EVALUATION</a:t>
            </a:r>
          </a:p>
        </p:txBody>
      </p:sp>
      <p:sp>
        <p:nvSpPr>
          <p:cNvPr id="97" name="TextBox 4"/>
          <p:cNvSpPr txBox="1"/>
          <p:nvPr/>
        </p:nvSpPr>
        <p:spPr>
          <a:xfrm>
            <a:off x="777238" y="2423161"/>
            <a:ext cx="10607044" cy="39246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2400">
                <a:solidFill>
                  <a:srgbClr val="5A5A5A"/>
                </a:solidFill>
              </a:defRPr>
            </a:lvl1pPr>
          </a:lstStyle>
          <a:p>
            <a:pPr/>
            <a:r>
              <a:t>Railway Reservation &amp; Dynamic Waiting List Management System</a:t>
            </a:r>
          </a:p>
        </p:txBody>
      </p:sp>
      <p:sp>
        <p:nvSpPr>
          <p:cNvPr id="98" name="TextBox 5"/>
          <p:cNvSpPr txBox="1"/>
          <p:nvPr/>
        </p:nvSpPr>
        <p:spPr>
          <a:xfrm>
            <a:off x="777238" y="3154679"/>
            <a:ext cx="10607044" cy="3104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700">
                <a:solidFill>
                  <a:srgbClr val="143769"/>
                </a:solidFill>
              </a:defRPr>
            </a:lvl1pPr>
          </a:lstStyle>
          <a:p>
            <a:pPr/>
            <a:r>
              <a:t>Using Data Structures in C++</a:t>
            </a:r>
          </a:p>
        </p:txBody>
      </p:sp>
      <p:sp>
        <p:nvSpPr>
          <p:cNvPr id="99" name="TextBox 6"/>
          <p:cNvSpPr txBox="1"/>
          <p:nvPr/>
        </p:nvSpPr>
        <p:spPr>
          <a:xfrm>
            <a:off x="777238" y="3703321"/>
            <a:ext cx="10607044"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400">
                <a:solidFill>
                  <a:srgbClr val="143769"/>
                </a:solidFill>
              </a:defRPr>
            </a:lvl1pPr>
          </a:lstStyle>
          <a:p>
            <a:pPr/>
            <a:r>
              <a:t>Team ID: DSCPP-III-2026-T233</a:t>
            </a:r>
          </a:p>
        </p:txBody>
      </p:sp>
      <p:sp>
        <p:nvSpPr>
          <p:cNvPr id="100" name="TextBox 7"/>
          <p:cNvSpPr txBox="1"/>
          <p:nvPr/>
        </p:nvSpPr>
        <p:spPr>
          <a:xfrm>
            <a:off x="960119" y="4892041"/>
            <a:ext cx="10241282" cy="629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200"/>
            </a:pPr>
            <a:r>
              <a:t>Department of Computer Science &amp; Engineering</a:t>
            </a:r>
            <a:br/>
            <a:r>
              <a:t>Graphic Era (Deemed to be University), Dehradun</a:t>
            </a:r>
            <a:br/>
            <a:r>
              <a:t>Academic Session 2026–27</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Rectangle 1"/>
          <p:cNvSpPr/>
          <p:nvPr/>
        </p:nvSpPr>
        <p:spPr>
          <a:xfrm>
            <a:off x="-1" y="0"/>
            <a:ext cx="12191697" cy="64008"/>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3" name="TextBox 2"/>
          <p:cNvSpPr txBox="1"/>
          <p:nvPr/>
        </p:nvSpPr>
        <p:spPr>
          <a:xfrm>
            <a:off x="548639" y="228600"/>
            <a:ext cx="10698482" cy="41506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500">
                <a:solidFill>
                  <a:srgbClr val="143769"/>
                </a:solidFill>
              </a:defRPr>
            </a:lvl1pPr>
          </a:lstStyle>
          <a:p>
            <a:pPr/>
            <a:r>
              <a:t>Team &amp; Mentor Details</a:t>
            </a:r>
          </a:p>
        </p:txBody>
      </p:sp>
      <p:sp>
        <p:nvSpPr>
          <p:cNvPr id="104" name="Rectangle 3"/>
          <p:cNvSpPr/>
          <p:nvPr/>
        </p:nvSpPr>
        <p:spPr>
          <a:xfrm>
            <a:off x="502919" y="804672"/>
            <a:ext cx="11155682" cy="22862"/>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5" name="TextBox 4"/>
          <p:cNvSpPr txBox="1"/>
          <p:nvPr/>
        </p:nvSpPr>
        <p:spPr>
          <a:xfrm>
            <a:off x="320039" y="6473953"/>
            <a:ext cx="9875522" cy="18611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700">
                <a:solidFill>
                  <a:srgbClr val="5A5A5A"/>
                </a:solidFill>
              </a:defRPr>
            </a:lvl1pPr>
          </a:lstStyle>
          <a:p>
            <a:pPr/>
            <a:r>
              <a:t>Department of Computer Science &amp; Engineering | Graphic Era (Deemed to be University)</a:t>
            </a:r>
          </a:p>
        </p:txBody>
      </p:sp>
      <p:sp>
        <p:nvSpPr>
          <p:cNvPr id="106" name="TextBox 5"/>
          <p:cNvSpPr txBox="1"/>
          <p:nvPr/>
        </p:nvSpPr>
        <p:spPr>
          <a:xfrm>
            <a:off x="10744199" y="6455665"/>
            <a:ext cx="1005843" cy="1960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800">
                <a:solidFill>
                  <a:srgbClr val="5A5A5A"/>
                </a:solidFill>
              </a:defRPr>
            </a:lvl1pPr>
          </a:lstStyle>
          <a:p>
            <a:pPr/>
            <a:r>
              <a:t>2/10</a:t>
            </a:r>
          </a:p>
        </p:txBody>
      </p:sp>
      <p:sp>
        <p:nvSpPr>
          <p:cNvPr id="107" name="Rounded Rectangle 6"/>
          <p:cNvSpPr/>
          <p:nvPr/>
        </p:nvSpPr>
        <p:spPr>
          <a:xfrm>
            <a:off x="594359" y="1097280"/>
            <a:ext cx="5303523" cy="2148840"/>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8" name="TextBox 7"/>
          <p:cNvSpPr txBox="1"/>
          <p:nvPr/>
        </p:nvSpPr>
        <p:spPr>
          <a:xfrm>
            <a:off x="868678" y="1234439"/>
            <a:ext cx="4754884"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143769"/>
                </a:solidFill>
              </a:defRPr>
            </a:lvl1pPr>
          </a:lstStyle>
          <a:p>
            <a:pPr/>
            <a:r>
              <a:t>Team Information</a:t>
            </a:r>
          </a:p>
        </p:txBody>
      </p:sp>
      <p:sp>
        <p:nvSpPr>
          <p:cNvPr id="109" name="TextBox 8"/>
          <p:cNvSpPr txBox="1"/>
          <p:nvPr/>
        </p:nvSpPr>
        <p:spPr>
          <a:xfrm>
            <a:off x="868678" y="1664206"/>
            <a:ext cx="4754884" cy="9665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400"/>
            </a:pPr>
            <a:r>
              <a:t>Team ID: DSCPP-III-2026-T233</a:t>
            </a:r>
            <a:br/>
            <a:r>
              <a:t>Semester: 3rd</a:t>
            </a:r>
            <a:br/>
            <a:r>
              <a:t>Section: ML-2/ML-3/ML-4</a:t>
            </a:r>
            <a:br/>
            <a:r>
              <a:t>Domain: Data Structures / C++</a:t>
            </a:r>
          </a:p>
        </p:txBody>
      </p:sp>
      <p:sp>
        <p:nvSpPr>
          <p:cNvPr id="110" name="Rounded Rectangle 9"/>
          <p:cNvSpPr/>
          <p:nvPr/>
        </p:nvSpPr>
        <p:spPr>
          <a:xfrm>
            <a:off x="6263640" y="1097280"/>
            <a:ext cx="5303522" cy="2148840"/>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1" name="TextBox 10"/>
          <p:cNvSpPr txBox="1"/>
          <p:nvPr/>
        </p:nvSpPr>
        <p:spPr>
          <a:xfrm>
            <a:off x="6537959" y="1234439"/>
            <a:ext cx="4754882"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143769"/>
                </a:solidFill>
              </a:defRPr>
            </a:lvl1pPr>
          </a:lstStyle>
          <a:p>
            <a:pPr/>
            <a:r>
              <a:t>Team Members</a:t>
            </a:r>
          </a:p>
        </p:txBody>
      </p:sp>
      <p:sp>
        <p:nvSpPr>
          <p:cNvPr id="112" name="TextBox 11"/>
          <p:cNvSpPr txBox="1"/>
          <p:nvPr/>
        </p:nvSpPr>
        <p:spPr>
          <a:xfrm>
            <a:off x="6537959" y="1664206"/>
            <a:ext cx="4754882" cy="6646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300"/>
            </a:pPr>
            <a:r>
              <a:t>1. Tilak Singh — 2510370274</a:t>
            </a:r>
            <a:br/>
            <a:r>
              <a:t>2. Yash — 2510370228</a:t>
            </a:r>
            <a:br/>
            <a:r>
              <a:t>3. Lavya Pratap Singh Rautela — 2510370289</a:t>
            </a:r>
          </a:p>
        </p:txBody>
      </p:sp>
      <p:sp>
        <p:nvSpPr>
          <p:cNvPr id="113" name="Rounded Rectangle 12"/>
          <p:cNvSpPr/>
          <p:nvPr/>
        </p:nvSpPr>
        <p:spPr>
          <a:xfrm>
            <a:off x="594359" y="3611879"/>
            <a:ext cx="10972801" cy="1325882"/>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4" name="TextBox 13"/>
          <p:cNvSpPr txBox="1"/>
          <p:nvPr/>
        </p:nvSpPr>
        <p:spPr>
          <a:xfrm>
            <a:off x="868680" y="3749041"/>
            <a:ext cx="10424161"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143769"/>
                </a:solidFill>
              </a:defRPr>
            </a:lvl1pPr>
          </a:lstStyle>
          <a:p>
            <a:pPr/>
            <a:r>
              <a:t>Mentor</a:t>
            </a:r>
          </a:p>
        </p:txBody>
      </p:sp>
      <p:sp>
        <p:nvSpPr>
          <p:cNvPr id="115" name="TextBox 14"/>
          <p:cNvSpPr txBox="1"/>
          <p:nvPr/>
        </p:nvSpPr>
        <p:spPr>
          <a:xfrm>
            <a:off x="868680" y="4178809"/>
            <a:ext cx="10424161" cy="5093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400"/>
            </a:pPr>
            <a:r>
              <a:t>Mr. Mentor Name: Kartikey Arora</a:t>
            </a:r>
            <a:br/>
            <a:r>
              <a:t>Interactions completed: 0</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Rectangle 1"/>
          <p:cNvSpPr/>
          <p:nvPr/>
        </p:nvSpPr>
        <p:spPr>
          <a:xfrm>
            <a:off x="-1" y="0"/>
            <a:ext cx="12191697" cy="64008"/>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8" name="TextBox 2"/>
          <p:cNvSpPr txBox="1"/>
          <p:nvPr/>
        </p:nvSpPr>
        <p:spPr>
          <a:xfrm>
            <a:off x="548639" y="228600"/>
            <a:ext cx="10698482" cy="41506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500">
                <a:solidFill>
                  <a:srgbClr val="143769"/>
                </a:solidFill>
              </a:defRPr>
            </a:lvl1pPr>
          </a:lstStyle>
          <a:p>
            <a:pPr/>
            <a:r>
              <a:t>Problem Statement &amp; Motivation</a:t>
            </a:r>
          </a:p>
        </p:txBody>
      </p:sp>
      <p:sp>
        <p:nvSpPr>
          <p:cNvPr id="119" name="Rectangle 3"/>
          <p:cNvSpPr/>
          <p:nvPr/>
        </p:nvSpPr>
        <p:spPr>
          <a:xfrm>
            <a:off x="502919" y="804672"/>
            <a:ext cx="11155682" cy="22862"/>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0" name="TextBox 4"/>
          <p:cNvSpPr txBox="1"/>
          <p:nvPr/>
        </p:nvSpPr>
        <p:spPr>
          <a:xfrm>
            <a:off x="320039" y="6473953"/>
            <a:ext cx="9875522" cy="18611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700">
                <a:solidFill>
                  <a:srgbClr val="5A5A5A"/>
                </a:solidFill>
              </a:defRPr>
            </a:lvl1pPr>
          </a:lstStyle>
          <a:p>
            <a:pPr/>
            <a:r>
              <a:t>Department of Computer Science &amp; Engineering | Graphic Era (Deemed to be University)</a:t>
            </a:r>
          </a:p>
        </p:txBody>
      </p:sp>
      <p:sp>
        <p:nvSpPr>
          <p:cNvPr id="121" name="TextBox 5"/>
          <p:cNvSpPr txBox="1"/>
          <p:nvPr/>
        </p:nvSpPr>
        <p:spPr>
          <a:xfrm>
            <a:off x="10744199" y="6455665"/>
            <a:ext cx="1005843" cy="1960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800">
                <a:solidFill>
                  <a:srgbClr val="5A5A5A"/>
                </a:solidFill>
              </a:defRPr>
            </a:lvl1pPr>
          </a:lstStyle>
          <a:p>
            <a:pPr/>
            <a:r>
              <a:t>3/10</a:t>
            </a:r>
          </a:p>
        </p:txBody>
      </p:sp>
      <p:sp>
        <p:nvSpPr>
          <p:cNvPr id="122" name="Rounded Rectangle 6"/>
          <p:cNvSpPr/>
          <p:nvPr/>
        </p:nvSpPr>
        <p:spPr>
          <a:xfrm>
            <a:off x="594359" y="1051560"/>
            <a:ext cx="10972801" cy="1965962"/>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3" name="TextBox 7"/>
          <p:cNvSpPr txBox="1"/>
          <p:nvPr/>
        </p:nvSpPr>
        <p:spPr>
          <a:xfrm>
            <a:off x="868680" y="1188720"/>
            <a:ext cx="10424161"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143769"/>
                </a:solidFill>
              </a:defRPr>
            </a:lvl1pPr>
          </a:lstStyle>
          <a:p>
            <a:pPr/>
            <a:r>
              <a:t>Problem Statement</a:t>
            </a:r>
          </a:p>
        </p:txBody>
      </p:sp>
      <p:sp>
        <p:nvSpPr>
          <p:cNvPr id="124" name="TextBox 8"/>
          <p:cNvSpPr txBox="1"/>
          <p:nvPr/>
        </p:nvSpPr>
        <p:spPr>
          <a:xfrm>
            <a:off x="868680" y="1618489"/>
            <a:ext cx="10424161" cy="664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300"/>
            </a:lvl1pPr>
          </a:lstStyle>
          <a:p>
            <a:pPr/>
            <a:r>
              <a:t>Traditional railway reservation systems mainly focus on confirmed bookings. When all seats are occupied, managing waiting passengers, cancellations, priorities, and seat reallocations efficiently becomes challenging. Our system dynamically manages bookings, cancellations, waiting-list movement, priority rules, passenger search, undo operations, and daily reports.</a:t>
            </a:r>
          </a:p>
        </p:txBody>
      </p:sp>
      <p:sp>
        <p:nvSpPr>
          <p:cNvPr id="125" name="TextBox 9"/>
          <p:cNvSpPr txBox="1"/>
          <p:nvPr/>
        </p:nvSpPr>
        <p:spPr>
          <a:xfrm>
            <a:off x="731519" y="3246121"/>
            <a:ext cx="5029202" cy="31048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700">
                <a:solidFill>
                  <a:srgbClr val="143769"/>
                </a:solidFill>
              </a:defRPr>
            </a:lvl1pPr>
          </a:lstStyle>
          <a:p>
            <a:pPr/>
            <a:r>
              <a:t>Motivation</a:t>
            </a:r>
          </a:p>
        </p:txBody>
      </p:sp>
      <p:sp>
        <p:nvSpPr>
          <p:cNvPr id="126" name="TextBox 10"/>
          <p:cNvSpPr txBox="1"/>
          <p:nvPr/>
        </p:nvSpPr>
        <p:spPr>
          <a:xfrm>
            <a:off x="731519" y="3639311"/>
            <a:ext cx="5120642" cy="10583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500"/>
              </a:spcBef>
              <a:defRPr sz="1300"/>
            </a:pPr>
            <a:r>
              <a:t>• Efficiently manage passengers when seats are unavailable</a:t>
            </a:r>
          </a:p>
          <a:p>
            <a:pPr>
              <a:spcBef>
                <a:spcPts val="500"/>
              </a:spcBef>
              <a:defRPr sz="1300"/>
            </a:pPr>
            <a:r>
              <a:t>• Automatically allocate cancelled seats to eligible waiting passengers</a:t>
            </a:r>
          </a:p>
          <a:p>
            <a:pPr>
              <a:spcBef>
                <a:spcPts val="500"/>
              </a:spcBef>
              <a:defRPr sz="1300"/>
            </a:pPr>
            <a:r>
              <a:t>• Support priority-based reservation rules</a:t>
            </a:r>
          </a:p>
          <a:p>
            <a:pPr>
              <a:spcBef>
                <a:spcPts val="500"/>
              </a:spcBef>
              <a:defRPr sz="1300"/>
            </a:pPr>
            <a:r>
              <a:t>• Reduce manual effort in searching and organizing passenger records</a:t>
            </a:r>
          </a:p>
        </p:txBody>
      </p:sp>
      <p:sp>
        <p:nvSpPr>
          <p:cNvPr id="127" name="TextBox 11"/>
          <p:cNvSpPr txBox="1"/>
          <p:nvPr/>
        </p:nvSpPr>
        <p:spPr>
          <a:xfrm>
            <a:off x="6309359" y="3246121"/>
            <a:ext cx="5029202" cy="31048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700">
                <a:solidFill>
                  <a:srgbClr val="143769"/>
                </a:solidFill>
              </a:defRPr>
            </a:lvl1pPr>
          </a:lstStyle>
          <a:p>
            <a:pPr/>
            <a:r>
              <a:t>Target Users / Stakeholders</a:t>
            </a:r>
          </a:p>
        </p:txBody>
      </p:sp>
      <p:sp>
        <p:nvSpPr>
          <p:cNvPr id="128" name="TextBox 12"/>
          <p:cNvSpPr txBox="1"/>
          <p:nvPr/>
        </p:nvSpPr>
        <p:spPr>
          <a:xfrm>
            <a:off x="6309359" y="3639311"/>
            <a:ext cx="5120642" cy="10583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500"/>
              </a:spcBef>
              <a:defRPr sz="1300"/>
            </a:pPr>
            <a:r>
              <a:t>• Passengers and reservation operators</a:t>
            </a:r>
          </a:p>
          <a:p>
            <a:pPr>
              <a:spcBef>
                <a:spcPts val="500"/>
              </a:spcBef>
              <a:defRPr sz="1300"/>
            </a:pPr>
            <a:r>
              <a:t>• Administrators managing bookings and cancellations</a:t>
            </a:r>
          </a:p>
          <a:p>
            <a:pPr>
              <a:spcBef>
                <a:spcPts val="500"/>
              </a:spcBef>
              <a:defRPr sz="1300"/>
            </a:pPr>
            <a:r>
              <a:t>• Students and faculty evaluating data-structure applications</a:t>
            </a:r>
          </a:p>
          <a:p>
            <a:pPr>
              <a:spcBef>
                <a:spcPts val="500"/>
              </a:spcBef>
              <a:defRPr sz="1300"/>
            </a:pPr>
            <a:r>
              <a:t>• Expected benefit: organized and efficient reservation management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Rectangle 1"/>
          <p:cNvSpPr/>
          <p:nvPr/>
        </p:nvSpPr>
        <p:spPr>
          <a:xfrm>
            <a:off x="-1" y="0"/>
            <a:ext cx="12191697" cy="64008"/>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1" name="TextBox 2"/>
          <p:cNvSpPr txBox="1"/>
          <p:nvPr/>
        </p:nvSpPr>
        <p:spPr>
          <a:xfrm>
            <a:off x="548639" y="228600"/>
            <a:ext cx="10698482" cy="41506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500">
                <a:solidFill>
                  <a:srgbClr val="143769"/>
                </a:solidFill>
              </a:defRPr>
            </a:lvl1pPr>
          </a:lstStyle>
          <a:p>
            <a:pPr/>
            <a:r>
              <a:t>Objectives</a:t>
            </a:r>
          </a:p>
        </p:txBody>
      </p:sp>
      <p:sp>
        <p:nvSpPr>
          <p:cNvPr id="132" name="Rectangle 3"/>
          <p:cNvSpPr/>
          <p:nvPr/>
        </p:nvSpPr>
        <p:spPr>
          <a:xfrm>
            <a:off x="502919" y="804672"/>
            <a:ext cx="11155682" cy="22862"/>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3" name="TextBox 4"/>
          <p:cNvSpPr txBox="1"/>
          <p:nvPr/>
        </p:nvSpPr>
        <p:spPr>
          <a:xfrm>
            <a:off x="320039" y="6473953"/>
            <a:ext cx="9875522" cy="18611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700">
                <a:solidFill>
                  <a:srgbClr val="5A5A5A"/>
                </a:solidFill>
              </a:defRPr>
            </a:lvl1pPr>
          </a:lstStyle>
          <a:p>
            <a:pPr/>
            <a:r>
              <a:t>Department of Computer Science &amp; Engineering | Graphic Era (Deemed to be University)</a:t>
            </a:r>
          </a:p>
        </p:txBody>
      </p:sp>
      <p:sp>
        <p:nvSpPr>
          <p:cNvPr id="134" name="TextBox 5"/>
          <p:cNvSpPr txBox="1"/>
          <p:nvPr/>
        </p:nvSpPr>
        <p:spPr>
          <a:xfrm>
            <a:off x="10744199" y="6455665"/>
            <a:ext cx="1005843" cy="1960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800">
                <a:solidFill>
                  <a:srgbClr val="5A5A5A"/>
                </a:solidFill>
              </a:defRPr>
            </a:lvl1pPr>
          </a:lstStyle>
          <a:p>
            <a:pPr/>
            <a:r>
              <a:t>4/10</a:t>
            </a:r>
          </a:p>
        </p:txBody>
      </p:sp>
      <p:sp>
        <p:nvSpPr>
          <p:cNvPr id="135" name="TextBox 6"/>
          <p:cNvSpPr txBox="1"/>
          <p:nvPr/>
        </p:nvSpPr>
        <p:spPr>
          <a:xfrm>
            <a:off x="731518" y="1097281"/>
            <a:ext cx="10424164"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a:solidFill>
                  <a:srgbClr val="143769"/>
                </a:solidFill>
              </a:defRPr>
            </a:lvl1pPr>
          </a:lstStyle>
          <a:p>
            <a:pPr/>
            <a:r>
              <a:t>Project Objectives</a:t>
            </a:r>
          </a:p>
        </p:txBody>
      </p:sp>
      <p:sp>
        <p:nvSpPr>
          <p:cNvPr id="136" name="TextBox 7"/>
          <p:cNvSpPr txBox="1"/>
          <p:nvPr/>
        </p:nvSpPr>
        <p:spPr>
          <a:xfrm>
            <a:off x="868679" y="1572768"/>
            <a:ext cx="10332722" cy="14463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500"/>
              </a:spcBef>
              <a:defRPr sz="1500"/>
            </a:pPr>
            <a:r>
              <a:t>• Develop a railway reservation system with dynamic waiting-list management.</a:t>
            </a:r>
          </a:p>
          <a:p>
            <a:pPr>
              <a:spcBef>
                <a:spcPts val="500"/>
              </a:spcBef>
              <a:defRPr sz="1500"/>
            </a:pPr>
            <a:r>
              <a:t>• Implement booking, cancellation, automatic seat allocation, and priority booking.</a:t>
            </a:r>
          </a:p>
          <a:p>
            <a:pPr>
              <a:spcBef>
                <a:spcPts val="500"/>
              </a:spcBef>
              <a:defRPr sz="1500"/>
            </a:pPr>
            <a:r>
              <a:t>• Apply Queue, Priority Queue, Stack, BST, Hash Table, Sorting, Arrays, and File Handling.</a:t>
            </a:r>
          </a:p>
          <a:p>
            <a:pPr>
              <a:spcBef>
                <a:spcPts val="500"/>
              </a:spcBef>
              <a:defRPr sz="1500"/>
            </a:pPr>
            <a:r>
              <a:t>• Evaluate the system using realistic booking, cancellation, and waiting-list test cases.</a:t>
            </a:r>
          </a:p>
          <a:p>
            <a:pPr>
              <a:spcBef>
                <a:spcPts val="500"/>
              </a:spcBef>
              <a:defRPr sz="1500"/>
            </a:pPr>
            <a:r>
              <a:t>• Demonstrate practical applicability and future scalability.</a:t>
            </a:r>
          </a:p>
        </p:txBody>
      </p:sp>
      <p:sp>
        <p:nvSpPr>
          <p:cNvPr id="137" name="Rounded Rectangle 8"/>
          <p:cNvSpPr/>
          <p:nvPr/>
        </p:nvSpPr>
        <p:spPr>
          <a:xfrm>
            <a:off x="1325880" y="4983479"/>
            <a:ext cx="9509760" cy="868682"/>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8" name="TextBox 9"/>
          <p:cNvSpPr txBox="1"/>
          <p:nvPr/>
        </p:nvSpPr>
        <p:spPr>
          <a:xfrm>
            <a:off x="1600200" y="5120641"/>
            <a:ext cx="8961120"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143769"/>
                </a:solidFill>
              </a:defRPr>
            </a:lvl1pPr>
          </a:lstStyle>
          <a:p>
            <a:pPr/>
            <a:r>
              <a:t>Key Objective</a:t>
            </a:r>
          </a:p>
        </p:txBody>
      </p:sp>
      <p:sp>
        <p:nvSpPr>
          <p:cNvPr id="139" name="TextBox 10"/>
          <p:cNvSpPr txBox="1"/>
          <p:nvPr/>
        </p:nvSpPr>
        <p:spPr>
          <a:xfrm>
            <a:off x="1600200" y="5377897"/>
            <a:ext cx="8961120" cy="4614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300"/>
            </a:lvl1pPr>
          </a:lstStyle>
          <a:p>
            <a:pPr/>
            <a:r>
              <a:t>Use the appropriate data structure for each reservation operation and demonstrate how the structures work together in one real-world system.</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Rectangle 1"/>
          <p:cNvSpPr/>
          <p:nvPr/>
        </p:nvSpPr>
        <p:spPr>
          <a:xfrm>
            <a:off x="-1" y="0"/>
            <a:ext cx="12191697" cy="64008"/>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2" name="TextBox 2"/>
          <p:cNvSpPr txBox="1"/>
          <p:nvPr/>
        </p:nvSpPr>
        <p:spPr>
          <a:xfrm>
            <a:off x="548639" y="228600"/>
            <a:ext cx="10698482" cy="41506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500">
                <a:solidFill>
                  <a:srgbClr val="143769"/>
                </a:solidFill>
              </a:defRPr>
            </a:lvl1pPr>
          </a:lstStyle>
          <a:p>
            <a:pPr/>
            <a:r>
              <a:t>Proposed Solution</a:t>
            </a:r>
          </a:p>
        </p:txBody>
      </p:sp>
      <p:sp>
        <p:nvSpPr>
          <p:cNvPr id="143" name="Rectangle 3"/>
          <p:cNvSpPr/>
          <p:nvPr/>
        </p:nvSpPr>
        <p:spPr>
          <a:xfrm>
            <a:off x="502919" y="804672"/>
            <a:ext cx="11155682" cy="22862"/>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4" name="TextBox 4"/>
          <p:cNvSpPr txBox="1"/>
          <p:nvPr/>
        </p:nvSpPr>
        <p:spPr>
          <a:xfrm>
            <a:off x="320039" y="6473953"/>
            <a:ext cx="9875522" cy="18611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700">
                <a:solidFill>
                  <a:srgbClr val="5A5A5A"/>
                </a:solidFill>
              </a:defRPr>
            </a:lvl1pPr>
          </a:lstStyle>
          <a:p>
            <a:pPr/>
            <a:r>
              <a:t>Department of Computer Science &amp; Engineering | Graphic Era (Deemed to be University)</a:t>
            </a:r>
          </a:p>
        </p:txBody>
      </p:sp>
      <p:sp>
        <p:nvSpPr>
          <p:cNvPr id="145" name="TextBox 5"/>
          <p:cNvSpPr txBox="1"/>
          <p:nvPr/>
        </p:nvSpPr>
        <p:spPr>
          <a:xfrm>
            <a:off x="10744199" y="6455665"/>
            <a:ext cx="1005843" cy="1960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800">
                <a:solidFill>
                  <a:srgbClr val="5A5A5A"/>
                </a:solidFill>
              </a:defRPr>
            </a:lvl1pPr>
          </a:lstStyle>
          <a:p>
            <a:pPr/>
            <a:r>
              <a:t>5/10</a:t>
            </a:r>
          </a:p>
        </p:txBody>
      </p:sp>
      <p:sp>
        <p:nvSpPr>
          <p:cNvPr id="146" name="TextBox 6"/>
          <p:cNvSpPr txBox="1"/>
          <p:nvPr/>
        </p:nvSpPr>
        <p:spPr>
          <a:xfrm>
            <a:off x="731518" y="1097281"/>
            <a:ext cx="4937764"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a:solidFill>
                  <a:srgbClr val="143769"/>
                </a:solidFill>
              </a:defRPr>
            </a:lvl1pPr>
          </a:lstStyle>
          <a:p>
            <a:pPr/>
            <a:r>
              <a:t>Proposed Approach</a:t>
            </a:r>
          </a:p>
        </p:txBody>
      </p:sp>
      <p:sp>
        <p:nvSpPr>
          <p:cNvPr id="147" name="TextBox 7"/>
          <p:cNvSpPr txBox="1"/>
          <p:nvPr/>
        </p:nvSpPr>
        <p:spPr>
          <a:xfrm>
            <a:off x="731519" y="1554481"/>
            <a:ext cx="5029202" cy="144919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500"/>
              </a:spcBef>
              <a:defRPr sz="1400"/>
            </a:pPr>
            <a:r>
              <a:t>• Collect passenger and booking data</a:t>
            </a:r>
          </a:p>
          <a:p>
            <a:pPr>
              <a:spcBef>
                <a:spcPts val="500"/>
              </a:spcBef>
              <a:defRPr sz="1400"/>
            </a:pPr>
            <a:r>
              <a:t>• Check seat availability</a:t>
            </a:r>
          </a:p>
          <a:p>
            <a:pPr>
              <a:spcBef>
                <a:spcPts val="500"/>
              </a:spcBef>
              <a:defRPr sz="1400"/>
            </a:pPr>
            <a:r>
              <a:t>• Confirm booking or insert passenger into waiting list</a:t>
            </a:r>
          </a:p>
          <a:p>
            <a:pPr>
              <a:spcBef>
                <a:spcPts val="500"/>
              </a:spcBef>
              <a:defRPr sz="1400"/>
            </a:pPr>
            <a:r>
              <a:t>• Process cancellations and dynamically allocate free seats</a:t>
            </a:r>
          </a:p>
          <a:p>
            <a:pPr>
              <a:spcBef>
                <a:spcPts val="500"/>
              </a:spcBef>
              <a:defRPr sz="1400"/>
            </a:pPr>
            <a:r>
              <a:t>• Store records and generate daily reports</a:t>
            </a:r>
          </a:p>
        </p:txBody>
      </p:sp>
      <p:sp>
        <p:nvSpPr>
          <p:cNvPr id="148" name="TextBox 8"/>
          <p:cNvSpPr txBox="1"/>
          <p:nvPr/>
        </p:nvSpPr>
        <p:spPr>
          <a:xfrm>
            <a:off x="6309359" y="1097281"/>
            <a:ext cx="4937762"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a:solidFill>
                  <a:srgbClr val="143769"/>
                </a:solidFill>
              </a:defRPr>
            </a:lvl1pPr>
          </a:lstStyle>
          <a:p>
            <a:pPr/>
            <a:r>
              <a:t>Key Features</a:t>
            </a:r>
          </a:p>
        </p:txBody>
      </p:sp>
      <p:sp>
        <p:nvSpPr>
          <p:cNvPr id="149" name="TextBox 9"/>
          <p:cNvSpPr txBox="1"/>
          <p:nvPr/>
        </p:nvSpPr>
        <p:spPr>
          <a:xfrm>
            <a:off x="6309359" y="1554481"/>
            <a:ext cx="5029202" cy="144919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500"/>
              </a:spcBef>
              <a:defRPr sz="1400"/>
            </a:pPr>
            <a:r>
              <a:t>• Dynamic FIFO waiting list using Queue</a:t>
            </a:r>
          </a:p>
          <a:p>
            <a:pPr>
              <a:spcBef>
                <a:spcPts val="500"/>
              </a:spcBef>
              <a:defRPr sz="1400"/>
            </a:pPr>
            <a:r>
              <a:t>• Priority-based waiting using Priority Queue</a:t>
            </a:r>
          </a:p>
          <a:p>
            <a:pPr>
              <a:spcBef>
                <a:spcPts val="500"/>
              </a:spcBef>
              <a:defRPr sz="1400"/>
            </a:pPr>
            <a:r>
              <a:t>• Undo last cancellation using Stack</a:t>
            </a:r>
          </a:p>
          <a:p>
            <a:pPr>
              <a:spcBef>
                <a:spcPts val="500"/>
              </a:spcBef>
              <a:defRPr sz="1400"/>
            </a:pPr>
            <a:r>
              <a:t>• BST and Hash Table for passenger search</a:t>
            </a:r>
          </a:p>
          <a:p>
            <a:pPr>
              <a:spcBef>
                <a:spcPts val="500"/>
              </a:spcBef>
              <a:defRPr sz="1400"/>
            </a:pPr>
            <a:r>
              <a:t>• Sorting and file-based daily reports</a:t>
            </a:r>
          </a:p>
        </p:txBody>
      </p:sp>
      <p:sp>
        <p:nvSpPr>
          <p:cNvPr id="150" name="Rounded Rectangle 10"/>
          <p:cNvSpPr/>
          <p:nvPr/>
        </p:nvSpPr>
        <p:spPr>
          <a:xfrm>
            <a:off x="1828800" y="4892040"/>
            <a:ext cx="8412482" cy="868682"/>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1" name="TextBox 11"/>
          <p:cNvSpPr txBox="1"/>
          <p:nvPr/>
        </p:nvSpPr>
        <p:spPr>
          <a:xfrm>
            <a:off x="2103119" y="5029199"/>
            <a:ext cx="7863841"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143769"/>
                </a:solidFill>
              </a:defRPr>
            </a:lvl1pPr>
          </a:lstStyle>
          <a:p>
            <a:pPr/>
            <a:r>
              <a:t>Core Idea</a:t>
            </a:r>
          </a:p>
        </p:txBody>
      </p:sp>
      <p:sp>
        <p:nvSpPr>
          <p:cNvPr id="152" name="TextBox 12"/>
          <p:cNvSpPr txBox="1"/>
          <p:nvPr/>
        </p:nvSpPr>
        <p:spPr>
          <a:xfrm>
            <a:off x="2103119" y="5458968"/>
            <a:ext cx="7863841" cy="3005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lvl1pPr>
          </a:lstStyle>
          <a:p>
            <a:pPr/>
            <a:r>
              <a:t>Problem → Appropriate Data Structure → Efficient Operation</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Rectangle 1"/>
          <p:cNvSpPr/>
          <p:nvPr/>
        </p:nvSpPr>
        <p:spPr>
          <a:xfrm>
            <a:off x="-1" y="0"/>
            <a:ext cx="12191697" cy="64008"/>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5" name="TextBox 2"/>
          <p:cNvSpPr txBox="1"/>
          <p:nvPr/>
        </p:nvSpPr>
        <p:spPr>
          <a:xfrm>
            <a:off x="548639" y="228600"/>
            <a:ext cx="10698482" cy="41506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500">
                <a:solidFill>
                  <a:srgbClr val="143769"/>
                </a:solidFill>
              </a:defRPr>
            </a:lvl1pPr>
          </a:lstStyle>
          <a:p>
            <a:pPr/>
            <a:r>
              <a:t>Integration of PBL Course Concepts</a:t>
            </a:r>
          </a:p>
        </p:txBody>
      </p:sp>
      <p:sp>
        <p:nvSpPr>
          <p:cNvPr id="156" name="Rectangle 3"/>
          <p:cNvSpPr/>
          <p:nvPr/>
        </p:nvSpPr>
        <p:spPr>
          <a:xfrm>
            <a:off x="502919" y="804672"/>
            <a:ext cx="11155682" cy="22862"/>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7" name="TextBox 4"/>
          <p:cNvSpPr txBox="1"/>
          <p:nvPr/>
        </p:nvSpPr>
        <p:spPr>
          <a:xfrm>
            <a:off x="320039" y="6473953"/>
            <a:ext cx="9875522" cy="18611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700">
                <a:solidFill>
                  <a:srgbClr val="5A5A5A"/>
                </a:solidFill>
              </a:defRPr>
            </a:lvl1pPr>
          </a:lstStyle>
          <a:p>
            <a:pPr/>
            <a:r>
              <a:t>Department of Computer Science &amp; Engineering | Graphic Era (Deemed to be University)</a:t>
            </a:r>
          </a:p>
        </p:txBody>
      </p:sp>
      <p:sp>
        <p:nvSpPr>
          <p:cNvPr id="158" name="TextBox 5"/>
          <p:cNvSpPr txBox="1"/>
          <p:nvPr/>
        </p:nvSpPr>
        <p:spPr>
          <a:xfrm>
            <a:off x="10744199" y="6455665"/>
            <a:ext cx="1005843" cy="1960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800">
                <a:solidFill>
                  <a:srgbClr val="5A5A5A"/>
                </a:solidFill>
              </a:defRPr>
            </a:lvl1pPr>
          </a:lstStyle>
          <a:p>
            <a:pPr/>
            <a:r>
              <a:t>6/10</a:t>
            </a:r>
          </a:p>
        </p:txBody>
      </p:sp>
      <p:sp>
        <p:nvSpPr>
          <p:cNvPr id="159" name="Rectangle 6"/>
          <p:cNvSpPr/>
          <p:nvPr/>
        </p:nvSpPr>
        <p:spPr>
          <a:xfrm>
            <a:off x="502919" y="1097280"/>
            <a:ext cx="2423162" cy="475488"/>
          </a:xfrm>
          <a:prstGeom prst="rect">
            <a:avLst/>
          </a:prstGeom>
          <a:solidFill>
            <a:srgbClr val="143769"/>
          </a:solidFill>
          <a:ln>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60" name="TextBox 7"/>
          <p:cNvSpPr txBox="1"/>
          <p:nvPr/>
        </p:nvSpPr>
        <p:spPr>
          <a:xfrm>
            <a:off x="594358" y="1188720"/>
            <a:ext cx="2240284"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200">
                <a:solidFill>
                  <a:srgbClr val="FFFFFF"/>
                </a:solidFill>
              </a:defRPr>
            </a:lvl1pPr>
          </a:lstStyle>
          <a:p>
            <a:pPr/>
            <a:r>
              <a:t>Course</a:t>
            </a:r>
          </a:p>
        </p:txBody>
      </p:sp>
      <p:sp>
        <p:nvSpPr>
          <p:cNvPr id="161" name="Rectangle 8"/>
          <p:cNvSpPr/>
          <p:nvPr/>
        </p:nvSpPr>
        <p:spPr>
          <a:xfrm>
            <a:off x="2926078" y="1097280"/>
            <a:ext cx="5486403" cy="475488"/>
          </a:xfrm>
          <a:prstGeom prst="rect">
            <a:avLst/>
          </a:prstGeom>
          <a:solidFill>
            <a:srgbClr val="143769"/>
          </a:solidFill>
          <a:ln>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62" name="TextBox 9"/>
          <p:cNvSpPr txBox="1"/>
          <p:nvPr/>
        </p:nvSpPr>
        <p:spPr>
          <a:xfrm>
            <a:off x="3017518" y="1188720"/>
            <a:ext cx="5303523"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200">
                <a:solidFill>
                  <a:srgbClr val="FFFFFF"/>
                </a:solidFill>
              </a:defRPr>
            </a:lvl1pPr>
          </a:lstStyle>
          <a:p>
            <a:pPr/>
            <a:r>
              <a:t>Concepts Applied</a:t>
            </a:r>
          </a:p>
        </p:txBody>
      </p:sp>
      <p:sp>
        <p:nvSpPr>
          <p:cNvPr id="163" name="Rectangle 10"/>
          <p:cNvSpPr/>
          <p:nvPr/>
        </p:nvSpPr>
        <p:spPr>
          <a:xfrm>
            <a:off x="8412480" y="1097280"/>
            <a:ext cx="3337560" cy="475488"/>
          </a:xfrm>
          <a:prstGeom prst="rect">
            <a:avLst/>
          </a:prstGeom>
          <a:solidFill>
            <a:srgbClr val="143769"/>
          </a:solidFill>
          <a:ln>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64" name="TextBox 11"/>
          <p:cNvSpPr txBox="1"/>
          <p:nvPr/>
        </p:nvSpPr>
        <p:spPr>
          <a:xfrm>
            <a:off x="8503918" y="1188720"/>
            <a:ext cx="3154683"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200">
                <a:solidFill>
                  <a:srgbClr val="FFFFFF"/>
                </a:solidFill>
              </a:defRPr>
            </a:lvl1pPr>
          </a:lstStyle>
          <a:p>
            <a:pPr/>
            <a:r>
              <a:t>Project Module</a:t>
            </a:r>
          </a:p>
        </p:txBody>
      </p:sp>
      <p:sp>
        <p:nvSpPr>
          <p:cNvPr id="165" name="Rectangle 12"/>
          <p:cNvSpPr/>
          <p:nvPr/>
        </p:nvSpPr>
        <p:spPr>
          <a:xfrm>
            <a:off x="502919" y="1591055"/>
            <a:ext cx="2423162" cy="1042415"/>
          </a:xfrm>
          <a:prstGeom prst="rect">
            <a:avLst/>
          </a:prstGeom>
          <a:solidFill>
            <a:srgbClr val="EEF4FB"/>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66" name="TextBox 13"/>
          <p:cNvSpPr txBox="1"/>
          <p:nvPr/>
        </p:nvSpPr>
        <p:spPr>
          <a:xfrm>
            <a:off x="621791" y="1709928"/>
            <a:ext cx="218541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vl1pPr>
          </a:lstStyle>
          <a:p>
            <a:pPr/>
            <a:r>
              <a:t>Data Structures in C</a:t>
            </a:r>
          </a:p>
        </p:txBody>
      </p:sp>
      <p:sp>
        <p:nvSpPr>
          <p:cNvPr id="167" name="Rectangle 14"/>
          <p:cNvSpPr/>
          <p:nvPr/>
        </p:nvSpPr>
        <p:spPr>
          <a:xfrm>
            <a:off x="2926078" y="1591055"/>
            <a:ext cx="5486403" cy="1042415"/>
          </a:xfrm>
          <a:prstGeom prst="rect">
            <a:avLst/>
          </a:prstGeom>
          <a:solidFill>
            <a:srgbClr val="EEF4FB"/>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68" name="TextBox 15"/>
          <p:cNvSpPr txBox="1"/>
          <p:nvPr/>
        </p:nvSpPr>
        <p:spPr>
          <a:xfrm>
            <a:off x="3044951" y="1709928"/>
            <a:ext cx="524865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lvl1pPr>
          </a:lstStyle>
          <a:p>
            <a:pPr/>
            <a:r>
              <a:t>Arrays, Queue, Priority Queue, Stack, BST, Hashing, Sorting</a:t>
            </a:r>
          </a:p>
        </p:txBody>
      </p:sp>
      <p:sp>
        <p:nvSpPr>
          <p:cNvPr id="169" name="Rectangle 16"/>
          <p:cNvSpPr/>
          <p:nvPr/>
        </p:nvSpPr>
        <p:spPr>
          <a:xfrm>
            <a:off x="8412480" y="1591055"/>
            <a:ext cx="3337560" cy="1042415"/>
          </a:xfrm>
          <a:prstGeom prst="rect">
            <a:avLst/>
          </a:prstGeom>
          <a:solidFill>
            <a:srgbClr val="EEF4FB"/>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70" name="TextBox 17"/>
          <p:cNvSpPr txBox="1"/>
          <p:nvPr/>
        </p:nvSpPr>
        <p:spPr>
          <a:xfrm>
            <a:off x="8531351" y="1709928"/>
            <a:ext cx="309981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lvl1pPr>
          </a:lstStyle>
          <a:p>
            <a:pPr/>
            <a:r>
              <a:t>Core reservation system</a:t>
            </a:r>
          </a:p>
        </p:txBody>
      </p:sp>
      <p:sp>
        <p:nvSpPr>
          <p:cNvPr id="171" name="Rectangle 18"/>
          <p:cNvSpPr/>
          <p:nvPr/>
        </p:nvSpPr>
        <p:spPr>
          <a:xfrm>
            <a:off x="502919" y="2660904"/>
            <a:ext cx="2423162" cy="1042415"/>
          </a:xfrm>
          <a:prstGeom prst="rect">
            <a:avLst/>
          </a:prstGeom>
          <a:solidFill>
            <a:srgbClr val="FFFFFF"/>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72" name="TextBox 19"/>
          <p:cNvSpPr txBox="1"/>
          <p:nvPr/>
        </p:nvSpPr>
        <p:spPr>
          <a:xfrm>
            <a:off x="621791" y="2779777"/>
            <a:ext cx="218541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vl1pPr>
          </a:lstStyle>
          <a:p>
            <a:pPr/>
            <a:r>
              <a:t>OOPs with C++</a:t>
            </a:r>
          </a:p>
        </p:txBody>
      </p:sp>
      <p:sp>
        <p:nvSpPr>
          <p:cNvPr id="173" name="Rectangle 20"/>
          <p:cNvSpPr/>
          <p:nvPr/>
        </p:nvSpPr>
        <p:spPr>
          <a:xfrm>
            <a:off x="2926078" y="2660904"/>
            <a:ext cx="5486403" cy="1042415"/>
          </a:xfrm>
          <a:prstGeom prst="rect">
            <a:avLst/>
          </a:prstGeom>
          <a:solidFill>
            <a:srgbClr val="FFFFFF"/>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74" name="TextBox 21"/>
          <p:cNvSpPr txBox="1"/>
          <p:nvPr/>
        </p:nvSpPr>
        <p:spPr>
          <a:xfrm>
            <a:off x="3044951" y="2779777"/>
            <a:ext cx="524865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lvl1pPr>
          </a:lstStyle>
          <a:p>
            <a:pPr/>
            <a:r>
              <a:t>Classes, encapsulation and modular design concepts</a:t>
            </a:r>
          </a:p>
        </p:txBody>
      </p:sp>
      <p:sp>
        <p:nvSpPr>
          <p:cNvPr id="175" name="Rectangle 22"/>
          <p:cNvSpPr/>
          <p:nvPr/>
        </p:nvSpPr>
        <p:spPr>
          <a:xfrm>
            <a:off x="8412480" y="2660904"/>
            <a:ext cx="3337560" cy="1042415"/>
          </a:xfrm>
          <a:prstGeom prst="rect">
            <a:avLst/>
          </a:prstGeom>
          <a:solidFill>
            <a:srgbClr val="FFFFFF"/>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76" name="TextBox 23"/>
          <p:cNvSpPr txBox="1"/>
          <p:nvPr/>
        </p:nvSpPr>
        <p:spPr>
          <a:xfrm>
            <a:off x="8531351" y="2779777"/>
            <a:ext cx="309981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lvl1pPr>
          </a:lstStyle>
          <a:p>
            <a:pPr/>
            <a:r>
              <a:t>Future / extension module</a:t>
            </a:r>
          </a:p>
        </p:txBody>
      </p:sp>
      <p:sp>
        <p:nvSpPr>
          <p:cNvPr id="177" name="Rectangle 24"/>
          <p:cNvSpPr/>
          <p:nvPr/>
        </p:nvSpPr>
        <p:spPr>
          <a:xfrm>
            <a:off x="502919" y="3730752"/>
            <a:ext cx="2423162" cy="1042415"/>
          </a:xfrm>
          <a:prstGeom prst="rect">
            <a:avLst/>
          </a:prstGeom>
          <a:solidFill>
            <a:srgbClr val="EEF4FB"/>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78" name="TextBox 25"/>
          <p:cNvSpPr txBox="1"/>
          <p:nvPr/>
        </p:nvSpPr>
        <p:spPr>
          <a:xfrm>
            <a:off x="621791" y="3849624"/>
            <a:ext cx="218541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vl1pPr>
          </a:lstStyle>
          <a:p>
            <a:pPr/>
            <a:r>
              <a:t>Operating Systems</a:t>
            </a:r>
          </a:p>
        </p:txBody>
      </p:sp>
      <p:sp>
        <p:nvSpPr>
          <p:cNvPr id="179" name="Rectangle 26"/>
          <p:cNvSpPr/>
          <p:nvPr/>
        </p:nvSpPr>
        <p:spPr>
          <a:xfrm>
            <a:off x="2926078" y="3730752"/>
            <a:ext cx="5486403" cy="1042415"/>
          </a:xfrm>
          <a:prstGeom prst="rect">
            <a:avLst/>
          </a:prstGeom>
          <a:solidFill>
            <a:srgbClr val="EEF4FB"/>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0" name="TextBox 27"/>
          <p:cNvSpPr txBox="1"/>
          <p:nvPr/>
        </p:nvSpPr>
        <p:spPr>
          <a:xfrm>
            <a:off x="3044951" y="3849624"/>
            <a:ext cx="524865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lvl1pPr>
          </a:lstStyle>
          <a:p>
            <a:pPr/>
            <a:r>
              <a:t>Processes, scheduling, memory and synchronization concepts</a:t>
            </a:r>
          </a:p>
        </p:txBody>
      </p:sp>
      <p:sp>
        <p:nvSpPr>
          <p:cNvPr id="181" name="Rectangle 28"/>
          <p:cNvSpPr/>
          <p:nvPr/>
        </p:nvSpPr>
        <p:spPr>
          <a:xfrm>
            <a:off x="8412480" y="3730752"/>
            <a:ext cx="3337560" cy="1042415"/>
          </a:xfrm>
          <a:prstGeom prst="rect">
            <a:avLst/>
          </a:prstGeom>
          <a:solidFill>
            <a:srgbClr val="EEF4FB"/>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2" name="TextBox 29"/>
          <p:cNvSpPr txBox="1"/>
          <p:nvPr/>
        </p:nvSpPr>
        <p:spPr>
          <a:xfrm>
            <a:off x="8531351" y="3849624"/>
            <a:ext cx="309981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lvl1pPr>
          </a:lstStyle>
          <a:p>
            <a:pPr/>
            <a:r>
              <a:t>System operation extension</a:t>
            </a:r>
          </a:p>
        </p:txBody>
      </p:sp>
      <p:sp>
        <p:nvSpPr>
          <p:cNvPr id="183" name="Rectangle 30"/>
          <p:cNvSpPr/>
          <p:nvPr/>
        </p:nvSpPr>
        <p:spPr>
          <a:xfrm>
            <a:off x="502919" y="4800600"/>
            <a:ext cx="2423162" cy="1042414"/>
          </a:xfrm>
          <a:prstGeom prst="rect">
            <a:avLst/>
          </a:prstGeom>
          <a:solidFill>
            <a:srgbClr val="FFFFFF"/>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4" name="TextBox 31"/>
          <p:cNvSpPr txBox="1"/>
          <p:nvPr/>
        </p:nvSpPr>
        <p:spPr>
          <a:xfrm>
            <a:off x="621791" y="4919472"/>
            <a:ext cx="218541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vl1pPr>
          </a:lstStyle>
          <a:p>
            <a:pPr/>
            <a:r>
              <a:t>DBMS</a:t>
            </a:r>
          </a:p>
        </p:txBody>
      </p:sp>
      <p:sp>
        <p:nvSpPr>
          <p:cNvPr id="185" name="Rectangle 32"/>
          <p:cNvSpPr/>
          <p:nvPr/>
        </p:nvSpPr>
        <p:spPr>
          <a:xfrm>
            <a:off x="2926078" y="4800600"/>
            <a:ext cx="5486403" cy="1042414"/>
          </a:xfrm>
          <a:prstGeom prst="rect">
            <a:avLst/>
          </a:prstGeom>
          <a:solidFill>
            <a:srgbClr val="FFFFFF"/>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6" name="TextBox 33"/>
          <p:cNvSpPr txBox="1"/>
          <p:nvPr/>
        </p:nvSpPr>
        <p:spPr>
          <a:xfrm>
            <a:off x="3044951" y="4919472"/>
            <a:ext cx="524865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lvl1pPr>
          </a:lstStyle>
          <a:p>
            <a:pPr/>
            <a:r>
              <a:t>SQL, normalization, indexing and transactions concepts</a:t>
            </a:r>
          </a:p>
        </p:txBody>
      </p:sp>
      <p:sp>
        <p:nvSpPr>
          <p:cNvPr id="187" name="Rectangle 34"/>
          <p:cNvSpPr/>
          <p:nvPr/>
        </p:nvSpPr>
        <p:spPr>
          <a:xfrm>
            <a:off x="8412480" y="4800600"/>
            <a:ext cx="3337560" cy="1042414"/>
          </a:xfrm>
          <a:prstGeom prst="rect">
            <a:avLst/>
          </a:prstGeom>
          <a:solidFill>
            <a:srgbClr val="FFFFFF"/>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88" name="TextBox 35"/>
          <p:cNvSpPr txBox="1"/>
          <p:nvPr/>
        </p:nvSpPr>
        <p:spPr>
          <a:xfrm>
            <a:off x="8531351" y="4919472"/>
            <a:ext cx="3099818"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lvl1pPr>
          </a:lstStyle>
          <a:p>
            <a:pPr/>
            <a:r>
              <a:t>Future database extension</a:t>
            </a:r>
          </a:p>
        </p:txBody>
      </p:sp>
      <p:sp>
        <p:nvSpPr>
          <p:cNvPr id="189" name="Rounded Rectangle 36"/>
          <p:cNvSpPr/>
          <p:nvPr/>
        </p:nvSpPr>
        <p:spPr>
          <a:xfrm>
            <a:off x="1234438" y="5760720"/>
            <a:ext cx="9692643" cy="502922"/>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0" name="TextBox 37"/>
          <p:cNvSpPr txBox="1"/>
          <p:nvPr/>
        </p:nvSpPr>
        <p:spPr>
          <a:xfrm>
            <a:off x="1508758" y="5897880"/>
            <a:ext cx="9144004"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143769"/>
                </a:solidFill>
              </a:defRPr>
            </a:lvl1pPr>
          </a:lstStyle>
          <a:p>
            <a:pPr/>
            <a:r>
              <a:t>Integration Requirement</a:t>
            </a:r>
          </a:p>
        </p:txBody>
      </p:sp>
      <p:sp>
        <p:nvSpPr>
          <p:cNvPr id="191" name="TextBox 38"/>
          <p:cNvSpPr txBox="1"/>
          <p:nvPr/>
        </p:nvSpPr>
        <p:spPr>
          <a:xfrm>
            <a:off x="1508758" y="6048010"/>
            <a:ext cx="9144004" cy="2257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100"/>
            </a:lvl1pPr>
          </a:lstStyle>
          <a:p>
            <a:pPr/>
            <a:r>
              <a:t>Meaningful use of data structures is demonstrated through reservation, waiting-list, cancellation, search, and reporting operations.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Rectangle 1"/>
          <p:cNvSpPr/>
          <p:nvPr/>
        </p:nvSpPr>
        <p:spPr>
          <a:xfrm>
            <a:off x="-1" y="0"/>
            <a:ext cx="12191697" cy="64008"/>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4" name="TextBox 2"/>
          <p:cNvSpPr txBox="1"/>
          <p:nvPr/>
        </p:nvSpPr>
        <p:spPr>
          <a:xfrm>
            <a:off x="548639" y="228600"/>
            <a:ext cx="10698482" cy="41506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500">
                <a:solidFill>
                  <a:srgbClr val="143769"/>
                </a:solidFill>
              </a:defRPr>
            </a:lvl1pPr>
          </a:lstStyle>
          <a:p>
            <a:pPr/>
            <a:r>
              <a:t>System Architecture / Workflow</a:t>
            </a:r>
          </a:p>
        </p:txBody>
      </p:sp>
      <p:sp>
        <p:nvSpPr>
          <p:cNvPr id="195" name="Rectangle 3"/>
          <p:cNvSpPr/>
          <p:nvPr/>
        </p:nvSpPr>
        <p:spPr>
          <a:xfrm>
            <a:off x="502919" y="804672"/>
            <a:ext cx="11155682" cy="22862"/>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6" name="TextBox 4"/>
          <p:cNvSpPr txBox="1"/>
          <p:nvPr/>
        </p:nvSpPr>
        <p:spPr>
          <a:xfrm>
            <a:off x="320039" y="6473953"/>
            <a:ext cx="9875522" cy="18611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700">
                <a:solidFill>
                  <a:srgbClr val="5A5A5A"/>
                </a:solidFill>
              </a:defRPr>
            </a:lvl1pPr>
          </a:lstStyle>
          <a:p>
            <a:pPr/>
            <a:r>
              <a:t>Department of Computer Science &amp; Engineering | Graphic Era (Deemed to be University)</a:t>
            </a:r>
          </a:p>
        </p:txBody>
      </p:sp>
      <p:sp>
        <p:nvSpPr>
          <p:cNvPr id="197" name="TextBox 5"/>
          <p:cNvSpPr txBox="1"/>
          <p:nvPr/>
        </p:nvSpPr>
        <p:spPr>
          <a:xfrm>
            <a:off x="10744199" y="6455665"/>
            <a:ext cx="1005843" cy="1960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800">
                <a:solidFill>
                  <a:srgbClr val="5A5A5A"/>
                </a:solidFill>
              </a:defRPr>
            </a:lvl1pPr>
          </a:lstStyle>
          <a:p>
            <a:pPr/>
            <a:r>
              <a:t>7/10</a:t>
            </a:r>
          </a:p>
        </p:txBody>
      </p:sp>
      <p:sp>
        <p:nvSpPr>
          <p:cNvPr id="198" name="Rounded Rectangle 6"/>
          <p:cNvSpPr/>
          <p:nvPr/>
        </p:nvSpPr>
        <p:spPr>
          <a:xfrm>
            <a:off x="411480" y="1600200"/>
            <a:ext cx="1261873" cy="841248"/>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 name="TextBox 7"/>
          <p:cNvSpPr txBox="1"/>
          <p:nvPr/>
        </p:nvSpPr>
        <p:spPr>
          <a:xfrm>
            <a:off x="502919" y="1810512"/>
            <a:ext cx="1078995" cy="3936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000">
                <a:solidFill>
                  <a:srgbClr val="143769"/>
                </a:solidFill>
              </a:defRPr>
            </a:pPr>
            <a:r>
              <a:t>Passenger</a:t>
            </a:r>
            <a:br/>
            <a:r>
              <a:t>Input</a:t>
            </a:r>
          </a:p>
        </p:txBody>
      </p:sp>
      <p:sp>
        <p:nvSpPr>
          <p:cNvPr id="200" name="Connector 8"/>
          <p:cNvSpPr/>
          <p:nvPr/>
        </p:nvSpPr>
        <p:spPr>
          <a:xfrm>
            <a:off x="1673349" y="2020822"/>
            <a:ext cx="201170" cy="2"/>
          </a:xfrm>
          <a:prstGeom prst="line">
            <a:avLst/>
          </a:prstGeom>
          <a:ln w="25400">
            <a:solidFill>
              <a:srgbClr val="143769"/>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01" name="Rounded Rectangle 9"/>
          <p:cNvSpPr/>
          <p:nvPr/>
        </p:nvSpPr>
        <p:spPr>
          <a:xfrm>
            <a:off x="1874517" y="1600200"/>
            <a:ext cx="1261874" cy="841248"/>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2" name="TextBox 10"/>
          <p:cNvSpPr txBox="1"/>
          <p:nvPr/>
        </p:nvSpPr>
        <p:spPr>
          <a:xfrm>
            <a:off x="1965957" y="1810512"/>
            <a:ext cx="1078995" cy="3936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000">
                <a:solidFill>
                  <a:srgbClr val="143769"/>
                </a:solidFill>
              </a:defRPr>
            </a:pPr>
            <a:r>
              <a:t>Seat</a:t>
            </a:r>
            <a:br/>
            <a:r>
              <a:t>Check</a:t>
            </a:r>
          </a:p>
        </p:txBody>
      </p:sp>
      <p:sp>
        <p:nvSpPr>
          <p:cNvPr id="203" name="Connector 11"/>
          <p:cNvSpPr/>
          <p:nvPr/>
        </p:nvSpPr>
        <p:spPr>
          <a:xfrm>
            <a:off x="3136389" y="2020822"/>
            <a:ext cx="201171" cy="2"/>
          </a:xfrm>
          <a:prstGeom prst="line">
            <a:avLst/>
          </a:prstGeom>
          <a:ln w="25400">
            <a:solidFill>
              <a:srgbClr val="143769"/>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04" name="Rounded Rectangle 12"/>
          <p:cNvSpPr/>
          <p:nvPr/>
        </p:nvSpPr>
        <p:spPr>
          <a:xfrm>
            <a:off x="3337559" y="1600200"/>
            <a:ext cx="1261874" cy="841248"/>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5" name="TextBox 13"/>
          <p:cNvSpPr txBox="1"/>
          <p:nvPr/>
        </p:nvSpPr>
        <p:spPr>
          <a:xfrm>
            <a:off x="3428998" y="1810512"/>
            <a:ext cx="1078994" cy="3936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000">
                <a:solidFill>
                  <a:srgbClr val="143769"/>
                </a:solidFill>
              </a:defRPr>
            </a:pPr>
            <a:r>
              <a:t>Confirmed</a:t>
            </a:r>
            <a:br/>
            <a:r>
              <a:t>Booking</a:t>
            </a:r>
          </a:p>
        </p:txBody>
      </p:sp>
      <p:sp>
        <p:nvSpPr>
          <p:cNvPr id="206" name="Connector 14"/>
          <p:cNvSpPr/>
          <p:nvPr/>
        </p:nvSpPr>
        <p:spPr>
          <a:xfrm>
            <a:off x="4599430" y="2020822"/>
            <a:ext cx="201171" cy="2"/>
          </a:xfrm>
          <a:prstGeom prst="line">
            <a:avLst/>
          </a:prstGeom>
          <a:ln w="25400">
            <a:solidFill>
              <a:srgbClr val="143769"/>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07" name="Rounded Rectangle 15"/>
          <p:cNvSpPr/>
          <p:nvPr/>
        </p:nvSpPr>
        <p:spPr>
          <a:xfrm>
            <a:off x="4800600" y="1600200"/>
            <a:ext cx="1261873" cy="841248"/>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8" name="TextBox 16"/>
          <p:cNvSpPr txBox="1"/>
          <p:nvPr/>
        </p:nvSpPr>
        <p:spPr>
          <a:xfrm>
            <a:off x="4892040" y="1810512"/>
            <a:ext cx="1078994" cy="3936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000">
                <a:solidFill>
                  <a:srgbClr val="143769"/>
                </a:solidFill>
              </a:defRPr>
            </a:pPr>
            <a:r>
              <a:t>Waiting /</a:t>
            </a:r>
            <a:br/>
            <a:r>
              <a:t>Priority Queue</a:t>
            </a:r>
          </a:p>
        </p:txBody>
      </p:sp>
      <p:sp>
        <p:nvSpPr>
          <p:cNvPr id="209" name="Connector 17"/>
          <p:cNvSpPr/>
          <p:nvPr/>
        </p:nvSpPr>
        <p:spPr>
          <a:xfrm>
            <a:off x="6062471" y="2020822"/>
            <a:ext cx="475488" cy="2"/>
          </a:xfrm>
          <a:prstGeom prst="line">
            <a:avLst/>
          </a:prstGeom>
          <a:ln w="25400">
            <a:solidFill>
              <a:srgbClr val="143769"/>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10" name="Rounded Rectangle 18"/>
          <p:cNvSpPr/>
          <p:nvPr/>
        </p:nvSpPr>
        <p:spPr>
          <a:xfrm>
            <a:off x="6537959" y="1600200"/>
            <a:ext cx="1261874" cy="841248"/>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1" name="TextBox 19"/>
          <p:cNvSpPr txBox="1"/>
          <p:nvPr/>
        </p:nvSpPr>
        <p:spPr>
          <a:xfrm>
            <a:off x="6629400" y="1810512"/>
            <a:ext cx="1078993"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solidFill>
                  <a:srgbClr val="143769"/>
                </a:solidFill>
              </a:defRPr>
            </a:lvl1pPr>
          </a:lstStyle>
          <a:p>
            <a:pPr/>
            <a:r>
              <a:t>Cancellation</a:t>
            </a:r>
          </a:p>
        </p:txBody>
      </p:sp>
      <p:sp>
        <p:nvSpPr>
          <p:cNvPr id="212" name="Connector 20"/>
          <p:cNvSpPr/>
          <p:nvPr/>
        </p:nvSpPr>
        <p:spPr>
          <a:xfrm>
            <a:off x="7799830" y="2020822"/>
            <a:ext cx="292610" cy="2"/>
          </a:xfrm>
          <a:prstGeom prst="line">
            <a:avLst/>
          </a:prstGeom>
          <a:ln w="25400">
            <a:solidFill>
              <a:srgbClr val="143769"/>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13" name="Rounded Rectangle 21"/>
          <p:cNvSpPr/>
          <p:nvPr/>
        </p:nvSpPr>
        <p:spPr>
          <a:xfrm>
            <a:off x="8092440" y="1600200"/>
            <a:ext cx="1261874" cy="841248"/>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4" name="TextBox 22"/>
          <p:cNvSpPr txBox="1"/>
          <p:nvPr/>
        </p:nvSpPr>
        <p:spPr>
          <a:xfrm>
            <a:off x="8183878" y="1810512"/>
            <a:ext cx="1078994" cy="3936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000">
                <a:solidFill>
                  <a:srgbClr val="143769"/>
                </a:solidFill>
              </a:defRPr>
            </a:pPr>
            <a:r>
              <a:t>Free Seat →</a:t>
            </a:r>
            <a:br/>
            <a:r>
              <a:t>Waiting List</a:t>
            </a:r>
          </a:p>
        </p:txBody>
      </p:sp>
      <p:sp>
        <p:nvSpPr>
          <p:cNvPr id="215" name="Connector 23"/>
          <p:cNvSpPr/>
          <p:nvPr/>
        </p:nvSpPr>
        <p:spPr>
          <a:xfrm>
            <a:off x="9354311" y="2020822"/>
            <a:ext cx="475488" cy="2"/>
          </a:xfrm>
          <a:prstGeom prst="line">
            <a:avLst/>
          </a:prstGeom>
          <a:ln w="25400">
            <a:solidFill>
              <a:srgbClr val="143769"/>
            </a:solidFill>
          </a:ln>
          <a:effectLst>
            <a:outerShdw sx="100000" sy="100000" kx="0" ky="0" algn="b" rotWithShape="0" blurRad="38100" dist="20000" dir="5400000">
              <a:srgbClr val="000000">
                <a:alpha val="38000"/>
              </a:srgbClr>
            </a:outerShdw>
          </a:effectLst>
        </p:spPr>
        <p:txBody>
          <a:bodyPr lIns="45718" tIns="45718" rIns="45718" bIns="45718"/>
          <a:lstStyle/>
          <a:p>
            <a:pPr/>
          </a:p>
        </p:txBody>
      </p:sp>
      <p:sp>
        <p:nvSpPr>
          <p:cNvPr id="216" name="Rounded Rectangle 24"/>
          <p:cNvSpPr/>
          <p:nvPr/>
        </p:nvSpPr>
        <p:spPr>
          <a:xfrm>
            <a:off x="9829800" y="1600200"/>
            <a:ext cx="1261873" cy="841248"/>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7" name="TextBox 25"/>
          <p:cNvSpPr txBox="1"/>
          <p:nvPr/>
        </p:nvSpPr>
        <p:spPr>
          <a:xfrm>
            <a:off x="9921239" y="1810512"/>
            <a:ext cx="1078994" cy="3936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000">
                <a:solidFill>
                  <a:srgbClr val="143769"/>
                </a:solidFill>
              </a:defRPr>
            </a:pPr>
            <a:r>
              <a:t>Search /</a:t>
            </a:r>
            <a:br/>
            <a:r>
              <a:t>Reports</a:t>
            </a:r>
          </a:p>
        </p:txBody>
      </p:sp>
      <p:sp>
        <p:nvSpPr>
          <p:cNvPr id="218" name="TextBox 26"/>
          <p:cNvSpPr txBox="1"/>
          <p:nvPr/>
        </p:nvSpPr>
        <p:spPr>
          <a:xfrm>
            <a:off x="731519" y="2971800"/>
            <a:ext cx="5029202" cy="31048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700">
                <a:solidFill>
                  <a:srgbClr val="143769"/>
                </a:solidFill>
              </a:defRPr>
            </a:lvl1pPr>
          </a:lstStyle>
          <a:p>
            <a:pPr/>
            <a:r>
              <a:t>Major Components</a:t>
            </a:r>
          </a:p>
        </p:txBody>
      </p:sp>
      <p:sp>
        <p:nvSpPr>
          <p:cNvPr id="219" name="TextBox 27"/>
          <p:cNvSpPr txBox="1"/>
          <p:nvPr/>
        </p:nvSpPr>
        <p:spPr>
          <a:xfrm>
            <a:off x="731519" y="3383280"/>
            <a:ext cx="5120642" cy="13250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500"/>
              </a:spcBef>
              <a:defRPr sz="1300"/>
            </a:pPr>
            <a:r>
              <a:t>• Seat array and reservation manager</a:t>
            </a:r>
          </a:p>
          <a:p>
            <a:pPr>
              <a:spcBef>
                <a:spcPts val="500"/>
              </a:spcBef>
              <a:defRPr sz="1300"/>
            </a:pPr>
            <a:r>
              <a:t>• Queue / Priority Queue</a:t>
            </a:r>
          </a:p>
          <a:p>
            <a:pPr>
              <a:spcBef>
                <a:spcPts val="500"/>
              </a:spcBef>
              <a:defRPr sz="1300"/>
            </a:pPr>
            <a:r>
              <a:t>• Cancellation Stack</a:t>
            </a:r>
          </a:p>
          <a:p>
            <a:pPr>
              <a:spcBef>
                <a:spcPts val="500"/>
              </a:spcBef>
              <a:defRPr sz="1300"/>
            </a:pPr>
            <a:r>
              <a:t>• BST + Hash Table lookup</a:t>
            </a:r>
          </a:p>
          <a:p>
            <a:pPr>
              <a:spcBef>
                <a:spcPts val="500"/>
              </a:spcBef>
              <a:defRPr sz="1300"/>
            </a:pPr>
            <a:r>
              <a:t>• File handling and report generator</a:t>
            </a:r>
          </a:p>
        </p:txBody>
      </p:sp>
      <p:sp>
        <p:nvSpPr>
          <p:cNvPr id="220" name="TextBox 28"/>
          <p:cNvSpPr txBox="1"/>
          <p:nvPr/>
        </p:nvSpPr>
        <p:spPr>
          <a:xfrm>
            <a:off x="6309359" y="2971800"/>
            <a:ext cx="5029202" cy="31048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700">
                <a:solidFill>
                  <a:srgbClr val="143769"/>
                </a:solidFill>
              </a:defRPr>
            </a:lvl1pPr>
          </a:lstStyle>
          <a:p>
            <a:pPr/>
            <a:r>
              <a:t>Data / Control Flow</a:t>
            </a:r>
          </a:p>
        </p:txBody>
      </p:sp>
      <p:sp>
        <p:nvSpPr>
          <p:cNvPr id="221" name="TextBox 29"/>
          <p:cNvSpPr txBox="1"/>
          <p:nvPr/>
        </p:nvSpPr>
        <p:spPr>
          <a:xfrm>
            <a:off x="6309359" y="3383280"/>
            <a:ext cx="5120642" cy="10583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500"/>
              </a:spcBef>
              <a:defRPr sz="1300"/>
            </a:pPr>
            <a:r>
              <a:t>• Booking checks availability and updates seat state</a:t>
            </a:r>
          </a:p>
          <a:p>
            <a:pPr>
              <a:spcBef>
                <a:spcPts val="500"/>
              </a:spcBef>
              <a:defRPr sz="1300"/>
            </a:pPr>
            <a:r>
              <a:t>• Cancellation triggers automatic waiting-list allocation</a:t>
            </a:r>
          </a:p>
          <a:p>
            <a:pPr>
              <a:spcBef>
                <a:spcPts val="500"/>
              </a:spcBef>
              <a:defRPr sz="1300"/>
            </a:pPr>
            <a:r>
              <a:t>• Search uses BST / Hash Table</a:t>
            </a:r>
          </a:p>
          <a:p>
            <a:pPr>
              <a:spcBef>
                <a:spcPts val="500"/>
              </a:spcBef>
              <a:defRPr sz="1300"/>
            </a:pPr>
            <a:r>
              <a:t>• Reports summarize confirmed, waiting, and cancelled tickets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Rectangle 1"/>
          <p:cNvSpPr/>
          <p:nvPr/>
        </p:nvSpPr>
        <p:spPr>
          <a:xfrm>
            <a:off x="-1" y="0"/>
            <a:ext cx="12191697" cy="64008"/>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24" name="TextBox 2"/>
          <p:cNvSpPr txBox="1"/>
          <p:nvPr/>
        </p:nvSpPr>
        <p:spPr>
          <a:xfrm>
            <a:off x="548639" y="228600"/>
            <a:ext cx="10698482" cy="41506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500">
                <a:solidFill>
                  <a:srgbClr val="143769"/>
                </a:solidFill>
              </a:defRPr>
            </a:lvl1pPr>
          </a:lstStyle>
          <a:p>
            <a:pPr/>
            <a:r>
              <a:t>Technology Stack &amp; Methodology</a:t>
            </a:r>
          </a:p>
        </p:txBody>
      </p:sp>
      <p:sp>
        <p:nvSpPr>
          <p:cNvPr id="225" name="Rectangle 3"/>
          <p:cNvSpPr/>
          <p:nvPr/>
        </p:nvSpPr>
        <p:spPr>
          <a:xfrm>
            <a:off x="502919" y="804672"/>
            <a:ext cx="11155682" cy="22862"/>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26" name="TextBox 4"/>
          <p:cNvSpPr txBox="1"/>
          <p:nvPr/>
        </p:nvSpPr>
        <p:spPr>
          <a:xfrm>
            <a:off x="320039" y="6473953"/>
            <a:ext cx="9875522" cy="18611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700">
                <a:solidFill>
                  <a:srgbClr val="5A5A5A"/>
                </a:solidFill>
              </a:defRPr>
            </a:lvl1pPr>
          </a:lstStyle>
          <a:p>
            <a:pPr/>
            <a:r>
              <a:t>Department of Computer Science &amp; Engineering | Graphic Era (Deemed to be University)</a:t>
            </a:r>
          </a:p>
        </p:txBody>
      </p:sp>
      <p:sp>
        <p:nvSpPr>
          <p:cNvPr id="227" name="TextBox 5"/>
          <p:cNvSpPr txBox="1"/>
          <p:nvPr/>
        </p:nvSpPr>
        <p:spPr>
          <a:xfrm>
            <a:off x="10744199" y="6455665"/>
            <a:ext cx="1005843" cy="1960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800">
                <a:solidFill>
                  <a:srgbClr val="5A5A5A"/>
                </a:solidFill>
              </a:defRPr>
            </a:lvl1pPr>
          </a:lstStyle>
          <a:p>
            <a:pPr/>
            <a:r>
              <a:t>8/10</a:t>
            </a:r>
          </a:p>
        </p:txBody>
      </p:sp>
      <p:sp>
        <p:nvSpPr>
          <p:cNvPr id="228" name="Rounded Rectangle 6"/>
          <p:cNvSpPr/>
          <p:nvPr/>
        </p:nvSpPr>
        <p:spPr>
          <a:xfrm>
            <a:off x="594359" y="1097280"/>
            <a:ext cx="5303523" cy="3291841"/>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29" name="TextBox 7"/>
          <p:cNvSpPr txBox="1"/>
          <p:nvPr/>
        </p:nvSpPr>
        <p:spPr>
          <a:xfrm>
            <a:off x="868678" y="1234439"/>
            <a:ext cx="4754884"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143769"/>
                </a:solidFill>
              </a:defRPr>
            </a:lvl1pPr>
          </a:lstStyle>
          <a:p>
            <a:pPr/>
            <a:r>
              <a:t>Technology Stack</a:t>
            </a:r>
          </a:p>
        </p:txBody>
      </p:sp>
      <p:sp>
        <p:nvSpPr>
          <p:cNvPr id="230" name="TextBox 8"/>
          <p:cNvSpPr txBox="1"/>
          <p:nvPr/>
        </p:nvSpPr>
        <p:spPr>
          <a:xfrm>
            <a:off x="868678" y="1664206"/>
            <a:ext cx="4754884" cy="1010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200"/>
            </a:pPr>
            <a:r>
              <a:t>Programming: C</a:t>
            </a:r>
            <a:br/>
            <a:r>
              <a:t>Data Storage: File Handling in C</a:t>
            </a:r>
            <a:br/>
            <a:r>
              <a:t>Core Algorithms: Queue, Priority Queue, Stack, BST, Hashing, Sorting</a:t>
            </a:r>
            <a:br/>
            <a:r>
              <a:t>IDE: VS Code / Code::Blocks / Dev-C++</a:t>
            </a:r>
            <a:br/>
            <a:r>
              <a:t>Version Control: Git / GitHub</a:t>
            </a:r>
          </a:p>
        </p:txBody>
      </p:sp>
      <p:sp>
        <p:nvSpPr>
          <p:cNvPr id="231" name="Rounded Rectangle 9"/>
          <p:cNvSpPr/>
          <p:nvPr/>
        </p:nvSpPr>
        <p:spPr>
          <a:xfrm>
            <a:off x="6263640" y="1097280"/>
            <a:ext cx="5303522" cy="3291841"/>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32" name="TextBox 10"/>
          <p:cNvSpPr txBox="1"/>
          <p:nvPr/>
        </p:nvSpPr>
        <p:spPr>
          <a:xfrm>
            <a:off x="6537959" y="1234439"/>
            <a:ext cx="4754882"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143769"/>
                </a:solidFill>
              </a:defRPr>
            </a:lvl1pPr>
          </a:lstStyle>
          <a:p>
            <a:pPr/>
            <a:r>
              <a:t>Development Methodology</a:t>
            </a:r>
          </a:p>
        </p:txBody>
      </p:sp>
      <p:sp>
        <p:nvSpPr>
          <p:cNvPr id="233" name="TextBox 11"/>
          <p:cNvSpPr txBox="1"/>
          <p:nvPr/>
        </p:nvSpPr>
        <p:spPr>
          <a:xfrm>
            <a:off x="6537959" y="1664206"/>
            <a:ext cx="4754882" cy="12742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300"/>
            </a:pPr>
            <a:r>
              <a:t>1. Requirement Analysis</a:t>
            </a:r>
            <a:br/>
            <a:r>
              <a:t>2. System Design</a:t>
            </a:r>
            <a:br/>
            <a:r>
              <a:t>3. Data-structure selection</a:t>
            </a:r>
            <a:br/>
            <a:r>
              <a:t>4. Implementation</a:t>
            </a:r>
            <a:br/>
            <a:r>
              <a:t>5. Testing with reservation scenarios</a:t>
            </a:r>
            <a:br/>
            <a:r>
              <a:t>6. Evaluation and documentation</a:t>
            </a:r>
          </a:p>
        </p:txBody>
      </p:sp>
      <p:sp>
        <p:nvSpPr>
          <p:cNvPr id="234" name="Rounded Rectangle 12"/>
          <p:cNvSpPr/>
          <p:nvPr/>
        </p:nvSpPr>
        <p:spPr>
          <a:xfrm>
            <a:off x="1828800" y="4800600"/>
            <a:ext cx="8412482" cy="914400"/>
          </a:xfrm>
          <a:prstGeom prst="roundRect">
            <a:avLst>
              <a:gd name="adj" fmla="val 16667"/>
            </a:avLst>
          </a:prstGeom>
          <a:solidFill>
            <a:srgbClr val="EEF4FB"/>
          </a:solidFill>
          <a:ln>
            <a:solidFill>
              <a:srgbClr val="14376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35" name="TextBox 13"/>
          <p:cNvSpPr txBox="1"/>
          <p:nvPr/>
        </p:nvSpPr>
        <p:spPr>
          <a:xfrm>
            <a:off x="2103119" y="4937760"/>
            <a:ext cx="7863841"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143769"/>
                </a:solidFill>
              </a:defRPr>
            </a:lvl1pPr>
          </a:lstStyle>
          <a:p>
            <a:pPr/>
            <a:r>
              <a:t>Technology Justification</a:t>
            </a:r>
          </a:p>
        </p:txBody>
      </p:sp>
      <p:sp>
        <p:nvSpPr>
          <p:cNvPr id="236" name="TextBox 14"/>
          <p:cNvSpPr txBox="1"/>
          <p:nvPr/>
        </p:nvSpPr>
        <p:spPr>
          <a:xfrm>
            <a:off x="2103119" y="5203217"/>
            <a:ext cx="7863841" cy="4614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300"/>
            </a:lvl1pPr>
          </a:lstStyle>
          <a:p>
            <a:pPr/>
            <a:r>
              <a:t>C is suitable because the project directly demonstrates pointers, arrays, dynamic memory, data structures, algorithms, and file handling.</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Rectangle 1"/>
          <p:cNvSpPr/>
          <p:nvPr/>
        </p:nvSpPr>
        <p:spPr>
          <a:xfrm>
            <a:off x="-1" y="0"/>
            <a:ext cx="12191697" cy="64008"/>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39" name="TextBox 2"/>
          <p:cNvSpPr txBox="1"/>
          <p:nvPr/>
        </p:nvSpPr>
        <p:spPr>
          <a:xfrm>
            <a:off x="548639" y="228600"/>
            <a:ext cx="10698482" cy="41506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500">
                <a:solidFill>
                  <a:srgbClr val="143769"/>
                </a:solidFill>
              </a:defRPr>
            </a:lvl1pPr>
          </a:lstStyle>
          <a:p>
            <a:pPr/>
            <a:r>
              <a:t>Initial Progress &amp; Team Contribution</a:t>
            </a:r>
          </a:p>
        </p:txBody>
      </p:sp>
      <p:sp>
        <p:nvSpPr>
          <p:cNvPr id="240" name="Rectangle 3"/>
          <p:cNvSpPr/>
          <p:nvPr/>
        </p:nvSpPr>
        <p:spPr>
          <a:xfrm>
            <a:off x="502919" y="804672"/>
            <a:ext cx="11155682" cy="22862"/>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41" name="TextBox 4"/>
          <p:cNvSpPr txBox="1"/>
          <p:nvPr/>
        </p:nvSpPr>
        <p:spPr>
          <a:xfrm>
            <a:off x="320039" y="6473953"/>
            <a:ext cx="9875522" cy="18611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700">
                <a:solidFill>
                  <a:srgbClr val="5A5A5A"/>
                </a:solidFill>
              </a:defRPr>
            </a:lvl1pPr>
          </a:lstStyle>
          <a:p>
            <a:pPr/>
            <a:r>
              <a:t>Department of Computer Science &amp; Engineering | Graphic Era (Deemed to be University)</a:t>
            </a:r>
          </a:p>
        </p:txBody>
      </p:sp>
      <p:sp>
        <p:nvSpPr>
          <p:cNvPr id="242" name="TextBox 5"/>
          <p:cNvSpPr txBox="1"/>
          <p:nvPr/>
        </p:nvSpPr>
        <p:spPr>
          <a:xfrm>
            <a:off x="10744199" y="6455665"/>
            <a:ext cx="1005843" cy="1960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800">
                <a:solidFill>
                  <a:srgbClr val="5A5A5A"/>
                </a:solidFill>
              </a:defRPr>
            </a:lvl1pPr>
          </a:lstStyle>
          <a:p>
            <a:pPr/>
            <a:r>
              <a:t>9/10</a:t>
            </a:r>
          </a:p>
        </p:txBody>
      </p:sp>
      <p:sp>
        <p:nvSpPr>
          <p:cNvPr id="243" name="TextBox 6"/>
          <p:cNvSpPr txBox="1"/>
          <p:nvPr/>
        </p:nvSpPr>
        <p:spPr>
          <a:xfrm>
            <a:off x="731519" y="1097281"/>
            <a:ext cx="5029202"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a:solidFill>
                  <a:srgbClr val="143769"/>
                </a:solidFill>
              </a:defRPr>
            </a:lvl1pPr>
          </a:lstStyle>
          <a:p>
            <a:pPr/>
            <a:r>
              <a:t>Progress Achieved</a:t>
            </a:r>
          </a:p>
        </p:txBody>
      </p:sp>
      <p:sp>
        <p:nvSpPr>
          <p:cNvPr id="244" name="TextBox 7"/>
          <p:cNvSpPr txBox="1"/>
          <p:nvPr/>
        </p:nvSpPr>
        <p:spPr>
          <a:xfrm>
            <a:off x="731519" y="1554479"/>
            <a:ext cx="5029202" cy="13250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500"/>
              </a:spcBef>
              <a:defRPr sz="1300"/>
            </a:pPr>
            <a:r>
              <a:t>• Problem statement and real-world use cases identified</a:t>
            </a:r>
          </a:p>
          <a:p>
            <a:pPr>
              <a:spcBef>
                <a:spcPts val="500"/>
              </a:spcBef>
              <a:defRPr sz="1300"/>
            </a:pPr>
            <a:r>
              <a:t>• Required data structures mapped to system operations</a:t>
            </a:r>
          </a:p>
          <a:p>
            <a:pPr>
              <a:spcBef>
                <a:spcPts val="500"/>
              </a:spcBef>
              <a:defRPr sz="1300"/>
            </a:pPr>
            <a:r>
              <a:t>• Dynamic waiting-list scenario designed</a:t>
            </a:r>
          </a:p>
          <a:p>
            <a:pPr>
              <a:spcBef>
                <a:spcPts val="500"/>
              </a:spcBef>
              <a:defRPr sz="1300"/>
            </a:pPr>
            <a:r>
              <a:t>• System workflow / architecture prepared</a:t>
            </a:r>
          </a:p>
          <a:p>
            <a:pPr>
              <a:spcBef>
                <a:spcPts val="500"/>
              </a:spcBef>
              <a:defRPr sz="1300"/>
            </a:pPr>
            <a:r>
              <a:t>• Initial implementation and documentation planning completed</a:t>
            </a:r>
          </a:p>
        </p:txBody>
      </p:sp>
      <p:sp>
        <p:nvSpPr>
          <p:cNvPr id="245" name="TextBox 8"/>
          <p:cNvSpPr txBox="1"/>
          <p:nvPr/>
        </p:nvSpPr>
        <p:spPr>
          <a:xfrm>
            <a:off x="6217918" y="1097281"/>
            <a:ext cx="5029203"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a:solidFill>
                  <a:srgbClr val="143769"/>
                </a:solidFill>
              </a:defRPr>
            </a:lvl1pPr>
          </a:lstStyle>
          <a:p>
            <a:pPr/>
            <a:r>
              <a:t>Individual Contribution</a:t>
            </a:r>
          </a:p>
        </p:txBody>
      </p:sp>
      <p:sp>
        <p:nvSpPr>
          <p:cNvPr id="246" name="Rounded Rectangle 9"/>
          <p:cNvSpPr/>
          <p:nvPr/>
        </p:nvSpPr>
        <p:spPr>
          <a:xfrm>
            <a:off x="6172200" y="1627632"/>
            <a:ext cx="5166360" cy="749810"/>
          </a:xfrm>
          <a:prstGeom prst="roundRect">
            <a:avLst>
              <a:gd name="adj" fmla="val 16667"/>
            </a:avLst>
          </a:prstGeom>
          <a:solidFill>
            <a:srgbClr val="EEF4FB"/>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47" name="TextBox 10"/>
          <p:cNvSpPr txBox="1"/>
          <p:nvPr/>
        </p:nvSpPr>
        <p:spPr>
          <a:xfrm>
            <a:off x="6400798" y="1728217"/>
            <a:ext cx="1965962" cy="22570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143769"/>
                </a:solidFill>
              </a:defRPr>
            </a:lvl1pPr>
          </a:lstStyle>
          <a:p>
            <a:pPr/>
            <a:r>
              <a:t>Yash</a:t>
            </a:r>
          </a:p>
        </p:txBody>
      </p:sp>
      <p:sp>
        <p:nvSpPr>
          <p:cNvPr id="248" name="TextBox 11"/>
          <p:cNvSpPr txBox="1"/>
          <p:nvPr/>
        </p:nvSpPr>
        <p:spPr>
          <a:xfrm>
            <a:off x="8321039" y="1728217"/>
            <a:ext cx="1234442"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000"/>
            </a:lvl1pPr>
          </a:lstStyle>
          <a:p>
            <a:pPr/>
            <a:r>
              <a:t>Team Lead</a:t>
            </a:r>
          </a:p>
        </p:txBody>
      </p:sp>
      <p:sp>
        <p:nvSpPr>
          <p:cNvPr id="249" name="TextBox 12"/>
          <p:cNvSpPr txBox="1"/>
          <p:nvPr/>
        </p:nvSpPr>
        <p:spPr>
          <a:xfrm>
            <a:off x="6400798" y="2020823"/>
            <a:ext cx="4572003" cy="2285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lvl1pPr>
          </a:lstStyle>
          <a:p>
            <a:pPr/>
            <a:r>
              <a:t>System design &amp; coordination</a:t>
            </a:r>
          </a:p>
        </p:txBody>
      </p:sp>
      <p:sp>
        <p:nvSpPr>
          <p:cNvPr id="250" name="Rounded Rectangle 13"/>
          <p:cNvSpPr/>
          <p:nvPr/>
        </p:nvSpPr>
        <p:spPr>
          <a:xfrm>
            <a:off x="6172200" y="2523744"/>
            <a:ext cx="5166360" cy="749809"/>
          </a:xfrm>
          <a:prstGeom prst="roundRect">
            <a:avLst>
              <a:gd name="adj" fmla="val 16667"/>
            </a:avLst>
          </a:prstGeom>
          <a:solidFill>
            <a:srgbClr val="FFFFFF"/>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51" name="TextBox 14"/>
          <p:cNvSpPr txBox="1"/>
          <p:nvPr/>
        </p:nvSpPr>
        <p:spPr>
          <a:xfrm>
            <a:off x="6400798" y="2624328"/>
            <a:ext cx="1965962" cy="22570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143769"/>
                </a:solidFill>
              </a:defRPr>
            </a:lvl1pPr>
          </a:lstStyle>
          <a:p>
            <a:pPr/>
            <a:r>
              <a:t>Tilak Singh</a:t>
            </a:r>
          </a:p>
        </p:txBody>
      </p:sp>
      <p:sp>
        <p:nvSpPr>
          <p:cNvPr id="252" name="TextBox 15"/>
          <p:cNvSpPr txBox="1"/>
          <p:nvPr/>
        </p:nvSpPr>
        <p:spPr>
          <a:xfrm>
            <a:off x="8321039" y="2624328"/>
            <a:ext cx="1234442"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000"/>
            </a:lvl1pPr>
          </a:lstStyle>
          <a:p>
            <a:pPr/>
            <a:r>
              <a:t>Developer</a:t>
            </a:r>
          </a:p>
        </p:txBody>
      </p:sp>
      <p:sp>
        <p:nvSpPr>
          <p:cNvPr id="253" name="TextBox 16"/>
          <p:cNvSpPr txBox="1"/>
          <p:nvPr/>
        </p:nvSpPr>
        <p:spPr>
          <a:xfrm>
            <a:off x="6400798" y="2916935"/>
            <a:ext cx="4572003" cy="2285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lvl1pPr>
          </a:lstStyle>
          <a:p>
            <a:pPr/>
            <a:r>
              <a:t>Reservation &amp; waiting-list module</a:t>
            </a:r>
          </a:p>
        </p:txBody>
      </p:sp>
      <p:sp>
        <p:nvSpPr>
          <p:cNvPr id="254" name="Rounded Rectangle 17"/>
          <p:cNvSpPr/>
          <p:nvPr/>
        </p:nvSpPr>
        <p:spPr>
          <a:xfrm>
            <a:off x="6172200" y="3419854"/>
            <a:ext cx="5166360" cy="749810"/>
          </a:xfrm>
          <a:prstGeom prst="roundRect">
            <a:avLst>
              <a:gd name="adj" fmla="val 16667"/>
            </a:avLst>
          </a:prstGeom>
          <a:solidFill>
            <a:srgbClr val="EEF4FB"/>
          </a:solidFill>
          <a:ln>
            <a:solidFill>
              <a:srgbClr val="BECDE1"/>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55" name="TextBox 18"/>
          <p:cNvSpPr txBox="1"/>
          <p:nvPr/>
        </p:nvSpPr>
        <p:spPr>
          <a:xfrm>
            <a:off x="6400798" y="3520441"/>
            <a:ext cx="1965962" cy="22570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143769"/>
                </a:solidFill>
              </a:defRPr>
            </a:lvl1pPr>
          </a:lstStyle>
          <a:p>
            <a:pPr/>
            <a:r>
              <a:t>Lavya Pratap Singh Rautela</a:t>
            </a:r>
          </a:p>
        </p:txBody>
      </p:sp>
      <p:sp>
        <p:nvSpPr>
          <p:cNvPr id="256" name="TextBox 19"/>
          <p:cNvSpPr txBox="1"/>
          <p:nvPr/>
        </p:nvSpPr>
        <p:spPr>
          <a:xfrm>
            <a:off x="8321039" y="3520441"/>
            <a:ext cx="1234442"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000"/>
            </a:lvl1pPr>
          </a:lstStyle>
          <a:p>
            <a:pPr/>
            <a:r>
              <a:t>Developer / Testing</a:t>
            </a:r>
          </a:p>
        </p:txBody>
      </p:sp>
      <p:sp>
        <p:nvSpPr>
          <p:cNvPr id="257" name="TextBox 20"/>
          <p:cNvSpPr txBox="1"/>
          <p:nvPr/>
        </p:nvSpPr>
        <p:spPr>
          <a:xfrm>
            <a:off x="6400798" y="3813048"/>
            <a:ext cx="4572003"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lvl1pPr>
          </a:lstStyle>
          <a:p>
            <a:pPr/>
            <a:r>
              <a:t>Search, sorting, testing &amp; documentation</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Rectangle 1"/>
          <p:cNvSpPr/>
          <p:nvPr/>
        </p:nvSpPr>
        <p:spPr>
          <a:xfrm>
            <a:off x="-1" y="0"/>
            <a:ext cx="12191697" cy="64008"/>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60" name="TextBox 2"/>
          <p:cNvSpPr txBox="1"/>
          <p:nvPr/>
        </p:nvSpPr>
        <p:spPr>
          <a:xfrm>
            <a:off x="548639" y="228600"/>
            <a:ext cx="10698482" cy="41506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500">
                <a:solidFill>
                  <a:srgbClr val="143769"/>
                </a:solidFill>
              </a:defRPr>
            </a:lvl1pPr>
          </a:lstStyle>
          <a:p>
            <a:pPr/>
            <a:r>
              <a:t>Roadmap, Expected Outcomes &amp; References</a:t>
            </a:r>
          </a:p>
        </p:txBody>
      </p:sp>
      <p:sp>
        <p:nvSpPr>
          <p:cNvPr id="261" name="Rectangle 3"/>
          <p:cNvSpPr/>
          <p:nvPr/>
        </p:nvSpPr>
        <p:spPr>
          <a:xfrm>
            <a:off x="502919" y="804672"/>
            <a:ext cx="11155682" cy="22862"/>
          </a:xfrm>
          <a:prstGeom prst="rect">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62" name="TextBox 4"/>
          <p:cNvSpPr txBox="1"/>
          <p:nvPr/>
        </p:nvSpPr>
        <p:spPr>
          <a:xfrm>
            <a:off x="320039" y="6473953"/>
            <a:ext cx="9875522" cy="18611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700">
                <a:solidFill>
                  <a:srgbClr val="5A5A5A"/>
                </a:solidFill>
              </a:defRPr>
            </a:lvl1pPr>
          </a:lstStyle>
          <a:p>
            <a:pPr/>
            <a:r>
              <a:t>Department of Computer Science &amp; Engineering | Graphic Era (Deemed to be University)</a:t>
            </a:r>
          </a:p>
        </p:txBody>
      </p:sp>
      <p:sp>
        <p:nvSpPr>
          <p:cNvPr id="263" name="TextBox 5"/>
          <p:cNvSpPr txBox="1"/>
          <p:nvPr/>
        </p:nvSpPr>
        <p:spPr>
          <a:xfrm>
            <a:off x="10744199" y="6455665"/>
            <a:ext cx="1005843" cy="1960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800">
                <a:solidFill>
                  <a:srgbClr val="5A5A5A"/>
                </a:solidFill>
              </a:defRPr>
            </a:lvl1pPr>
          </a:lstStyle>
          <a:p>
            <a:pPr/>
            <a:r>
              <a:t>10/10</a:t>
            </a:r>
          </a:p>
        </p:txBody>
      </p:sp>
      <p:sp>
        <p:nvSpPr>
          <p:cNvPr id="264" name="TextBox 6"/>
          <p:cNvSpPr txBox="1"/>
          <p:nvPr/>
        </p:nvSpPr>
        <p:spPr>
          <a:xfrm>
            <a:off x="731518" y="1051561"/>
            <a:ext cx="4937764"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a:solidFill>
                  <a:srgbClr val="143769"/>
                </a:solidFill>
              </a:defRPr>
            </a:lvl1pPr>
          </a:lstStyle>
          <a:p>
            <a:pPr/>
            <a:r>
              <a:t>Roadmap</a:t>
            </a:r>
          </a:p>
        </p:txBody>
      </p:sp>
      <p:sp>
        <p:nvSpPr>
          <p:cNvPr id="265" name="TextBox 7"/>
          <p:cNvSpPr txBox="1"/>
          <p:nvPr/>
        </p:nvSpPr>
        <p:spPr>
          <a:xfrm>
            <a:off x="731519" y="1463039"/>
            <a:ext cx="5029202" cy="8649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500"/>
              </a:spcBef>
              <a:defRPr sz="1400"/>
            </a:pPr>
            <a:r>
              <a:t>• Phase-I: Proposal &amp; Design</a:t>
            </a:r>
          </a:p>
          <a:p>
            <a:pPr>
              <a:spcBef>
                <a:spcPts val="500"/>
              </a:spcBef>
              <a:defRPr sz="1400"/>
            </a:pPr>
            <a:r>
              <a:t>• Phase-II: Development and integration</a:t>
            </a:r>
          </a:p>
          <a:p>
            <a:pPr>
              <a:spcBef>
                <a:spcPts val="500"/>
              </a:spcBef>
              <a:defRPr sz="1400"/>
            </a:pPr>
            <a:r>
              <a:t>• Phase-III: Final implementation, testing and demonstration</a:t>
            </a:r>
          </a:p>
        </p:txBody>
      </p:sp>
      <p:sp>
        <p:nvSpPr>
          <p:cNvPr id="266" name="TextBox 8"/>
          <p:cNvSpPr txBox="1"/>
          <p:nvPr/>
        </p:nvSpPr>
        <p:spPr>
          <a:xfrm>
            <a:off x="731518" y="3154679"/>
            <a:ext cx="4937764" cy="3330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a:solidFill>
                  <a:srgbClr val="143769"/>
                </a:solidFill>
              </a:defRPr>
            </a:lvl1pPr>
          </a:lstStyle>
          <a:p>
            <a:pPr/>
            <a:r>
              <a:t>Expected Outcomes</a:t>
            </a:r>
          </a:p>
        </p:txBody>
      </p:sp>
      <p:sp>
        <p:nvSpPr>
          <p:cNvPr id="267" name="TextBox 9"/>
          <p:cNvSpPr txBox="1"/>
          <p:nvPr/>
        </p:nvSpPr>
        <p:spPr>
          <a:xfrm>
            <a:off x="731519" y="3566160"/>
            <a:ext cx="5029202" cy="1264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500"/>
              </a:spcBef>
              <a:defRPr sz="1200"/>
            </a:pPr>
            <a:r>
              <a:t>• Working railway reservation prototype</a:t>
            </a:r>
          </a:p>
          <a:p>
            <a:pPr>
              <a:spcBef>
                <a:spcPts val="500"/>
              </a:spcBef>
              <a:defRPr sz="1200"/>
            </a:pPr>
            <a:r>
              <a:t>• Dynamic waiting-list allocation</a:t>
            </a:r>
          </a:p>
          <a:p>
            <a:pPr>
              <a:spcBef>
                <a:spcPts val="500"/>
              </a:spcBef>
              <a:defRPr sz="1200"/>
            </a:pPr>
            <a:r>
              <a:t>• Demonstration of multiple data structures</a:t>
            </a:r>
          </a:p>
          <a:p>
            <a:pPr>
              <a:spcBef>
                <a:spcPts val="500"/>
              </a:spcBef>
              <a:defRPr sz="1200"/>
            </a:pPr>
            <a:r>
              <a:t>• Daily reservation / cancellation reports</a:t>
            </a:r>
          </a:p>
          <a:p>
            <a:pPr>
              <a:spcBef>
                <a:spcPts val="500"/>
              </a:spcBef>
              <a:defRPr sz="1200"/>
            </a:pPr>
            <a:r>
              <a:t>• Future scalability to GUI, DBMS, or web/mobile front end</a:t>
            </a:r>
          </a:p>
        </p:txBody>
      </p:sp>
      <p:sp>
        <p:nvSpPr>
          <p:cNvPr id="268" name="TextBox 10"/>
          <p:cNvSpPr txBox="1"/>
          <p:nvPr/>
        </p:nvSpPr>
        <p:spPr>
          <a:xfrm>
            <a:off x="6217918" y="1051561"/>
            <a:ext cx="5029203" cy="3330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a:solidFill>
                  <a:srgbClr val="143769"/>
                </a:solidFill>
              </a:defRPr>
            </a:lvl1pPr>
          </a:lstStyle>
          <a:p>
            <a:pPr/>
            <a:r>
              <a:t>References / Project Basis</a:t>
            </a:r>
          </a:p>
        </p:txBody>
      </p:sp>
      <p:sp>
        <p:nvSpPr>
          <p:cNvPr id="269" name="TextBox 11"/>
          <p:cNvSpPr txBox="1"/>
          <p:nvPr/>
        </p:nvSpPr>
        <p:spPr>
          <a:xfrm>
            <a:off x="6217918" y="1463039"/>
            <a:ext cx="5029203" cy="10583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500"/>
              </a:spcBef>
              <a:defRPr sz="1300"/>
            </a:pPr>
            <a:r>
              <a:t>• Data Structures in C course concepts</a:t>
            </a:r>
          </a:p>
          <a:p>
            <a:pPr>
              <a:spcBef>
                <a:spcPts val="500"/>
              </a:spcBef>
              <a:defRPr sz="1300"/>
            </a:pPr>
            <a:r>
              <a:t>• C programming and file-handling documentation</a:t>
            </a:r>
          </a:p>
          <a:p>
            <a:pPr>
              <a:spcBef>
                <a:spcPts val="500"/>
              </a:spcBef>
              <a:defRPr sz="1300"/>
            </a:pPr>
            <a:r>
              <a:t>• Standard algorithm and data-structure references</a:t>
            </a:r>
          </a:p>
          <a:p>
            <a:pPr>
              <a:spcBef>
                <a:spcPts val="500"/>
              </a:spcBef>
              <a:defRPr sz="1300"/>
            </a:pPr>
            <a:r>
              <a:t>• Project-defined priority rules and test scenarios</a:t>
            </a:r>
          </a:p>
        </p:txBody>
      </p:sp>
      <p:sp>
        <p:nvSpPr>
          <p:cNvPr id="270" name="Rounded Rectangle 12"/>
          <p:cNvSpPr/>
          <p:nvPr/>
        </p:nvSpPr>
        <p:spPr>
          <a:xfrm>
            <a:off x="6400800" y="4069079"/>
            <a:ext cx="4572000" cy="1234442"/>
          </a:xfrm>
          <a:prstGeom prst="roundRect">
            <a:avLst>
              <a:gd name="adj" fmla="val 16667"/>
            </a:avLst>
          </a:prstGeom>
          <a:solidFill>
            <a:srgbClr val="143769"/>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71" name="TextBox 13"/>
          <p:cNvSpPr txBox="1"/>
          <p:nvPr/>
        </p:nvSpPr>
        <p:spPr>
          <a:xfrm>
            <a:off x="6629399" y="4361689"/>
            <a:ext cx="4114803" cy="64498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2000">
                <a:solidFill>
                  <a:srgbClr val="FFFFFF"/>
                </a:solidFill>
              </a:defRPr>
            </a:pPr>
            <a:r>
              <a:t>THANK YOU</a:t>
            </a:r>
            <a:br/>
            <a:r>
              <a:t>Questions &amp; Suggestions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